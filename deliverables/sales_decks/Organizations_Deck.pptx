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332720" y="640080"/>
            <a:ext cx="1463040" cy="54864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2720" y="786384"/>
            <a:ext cx="822960" cy="36576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32720" y="877824"/>
            <a:ext cx="365760" cy="36576"/>
          </a:xfrm>
          <a:prstGeom prst="rect">
            <a:avLst/>
          </a:prstGeom>
          <a:solidFill>
            <a:srgbClr val="6A7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267712"/>
            <a:ext cx="256032" cy="36576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8448" y="21945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A8E0"/>
                </a:solidFill>
                <a:latin typeface="Inter"/>
              </a:rPr>
              <a:t>ROSTER INTELLIGENCE  ·  ORGANIZATION EDITION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100584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FFFFFF"/>
                </a:solidFill>
                <a:latin typeface="Inter"/>
              </a:rPr>
              <a:t>Run your esports org</a:t>
            </a:r>
          </a:p>
          <a:p>
            <a:pPr algn="l">
              <a:lnSpc>
                <a:spcPct val="100000"/>
              </a:lnSpc>
            </a:pPr>
            <a:r>
              <a:rPr sz="5800" b="1">
                <a:solidFill>
                  <a:srgbClr val="FFFFFF"/>
                </a:solidFill>
                <a:latin typeface="Inter"/>
              </a:rPr>
              <a:t>like a professional team.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1772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9AA6C0"/>
                </a:solidFill>
                <a:latin typeface="Inter"/>
              </a:rPr>
              <a:t>A unified roster, analytics and scouting platform —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9AA6C0"/>
                </a:solidFill>
                <a:latin typeface="Inter"/>
              </a:rPr>
              <a:t>built for organizations, coaches and managers.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669280"/>
            <a:ext cx="3291840" cy="411480"/>
          </a:xfrm>
          <a:prstGeom prst="roundRect">
            <a:avLst/>
          </a:prstGeom>
          <a:noFill/>
          <a:ln w="12700">
            <a:solidFill>
              <a:srgbClr val="1FA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687568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FA8E0"/>
                </a:solidFill>
                <a:latin typeface="Inter"/>
              </a:rPr>
              <a:t>ORGANIZATIONS  ·  MULTI-ROSTER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2636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A7895"/>
                </a:solidFill>
                <a:latin typeface="Inter"/>
              </a:rPr>
              <a:t>Confidential sales material   ·   Built for esports orgs, coaches &amp; competitive players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76072"/>
            <a:ext cx="256032" cy="36576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A8E0"/>
                </a:solidFill>
                <a:latin typeface="Inter"/>
              </a:rPr>
              <a:t>01  · 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7ECF5"/>
                </a:solidFill>
                <a:latin typeface="Inter"/>
              </a:rPr>
              <a:t>Most esports orgs run on group chats and gut feel.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6C0"/>
                </a:solidFill>
                <a:latin typeface="Inter"/>
              </a:rPr>
              <a:t>The data exists. It's just trapped in screenshots, DMs and a coach's head.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548640" cy="45720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FA8E0"/>
                </a:solidFill>
                <a:latin typeface="Inter"/>
              </a:rPr>
              <a:t>▸  </a:t>
            </a:r>
            <a:r>
              <a:rPr sz="1400">
                <a:solidFill>
                  <a:srgbClr val="E7ECF5"/>
                </a:solidFill>
                <a:latin typeface="Inter"/>
              </a:rPr>
              <a:t>Each roster tracks things differently — or not at all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1">
                <a:solidFill>
                  <a:srgbClr val="1FA8E0"/>
                </a:solidFill>
                <a:latin typeface="Inter"/>
              </a:rPr>
              <a:t>▸  </a:t>
            </a:r>
            <a:r>
              <a:rPr sz="1400">
                <a:solidFill>
                  <a:srgbClr val="E7ECF5"/>
                </a:solidFill>
                <a:latin typeface="Inter"/>
              </a:rPr>
              <a:t>Match history lives in chat, not in a system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1">
                <a:solidFill>
                  <a:srgbClr val="1FA8E0"/>
                </a:solidFill>
                <a:latin typeface="Inter"/>
              </a:rPr>
              <a:t>▸  </a:t>
            </a:r>
            <a:r>
              <a:rPr sz="1400">
                <a:solidFill>
                  <a:srgbClr val="E7ECF5"/>
                </a:solidFill>
                <a:latin typeface="Inter"/>
              </a:rPr>
              <a:t>Scouting is restarted from scratch every event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1">
                <a:solidFill>
                  <a:srgbClr val="1FA8E0"/>
                </a:solidFill>
                <a:latin typeface="Inter"/>
              </a:rPr>
              <a:t>▸  </a:t>
            </a:r>
            <a:r>
              <a:rPr sz="1400">
                <a:solidFill>
                  <a:srgbClr val="E7ECF5"/>
                </a:solidFill>
                <a:latin typeface="Inter"/>
              </a:rPr>
              <a:t>Coaching staff can't see what management sees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1">
                <a:solidFill>
                  <a:srgbClr val="1FA8E0"/>
                </a:solidFill>
                <a:latin typeface="Inter"/>
              </a:rPr>
              <a:t>▸  </a:t>
            </a:r>
            <a:r>
              <a:rPr sz="1400">
                <a:solidFill>
                  <a:srgbClr val="E7ECF5"/>
                </a:solidFill>
                <a:latin typeface="Inter"/>
              </a:rPr>
              <a:t>Performance reviews are vibes, not numbers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743200"/>
            <a:ext cx="2560320" cy="15544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2743200"/>
            <a:ext cx="73152" cy="1554480"/>
          </a:xfrm>
          <a:prstGeom prst="rect">
            <a:avLst/>
          </a:prstGeom>
          <a:solidFill>
            <a:srgbClr val="EF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301752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Inter"/>
              </a:rPr>
              <a:t>&lt; 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8862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9AA6C0"/>
                </a:solidFill>
                <a:latin typeface="Inter"/>
              </a:rPr>
              <a:t>of amateur orgs keep structured match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2743200"/>
            <a:ext cx="2560320" cy="15544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0" y="2743200"/>
            <a:ext cx="73152" cy="1554480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301752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Inter"/>
              </a:rPr>
              <a:t>5+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38862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9AA6C0"/>
                </a:solidFill>
                <a:latin typeface="Inter"/>
              </a:rPr>
              <a:t>the average org juggles per roster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434840"/>
            <a:ext cx="5303520" cy="15544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4434840"/>
            <a:ext cx="73152" cy="1554480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70916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Inter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557784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9AA6C0"/>
                </a:solidFill>
                <a:latin typeface="Inter"/>
              </a:rPr>
              <a:t>single source of truth for performance — until now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Roster Intelligence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02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76072"/>
            <a:ext cx="256032" cy="36576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A8E0"/>
                </a:solidFill>
                <a:latin typeface="Inter"/>
              </a:rPr>
              <a:t>02  ·  TODAY'S WORKFLOW IS LEAKING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7ECF5"/>
                </a:solidFill>
                <a:latin typeface="Inter"/>
              </a:rPr>
              <a:t>Where time, knowledge and competitive edge get lost.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548640" cy="45720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3657600" cy="15544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3657600" cy="54864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9260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7ECF5"/>
                </a:solidFill>
                <a:latin typeface="Inter"/>
              </a:rPr>
              <a:t>Information silos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83280"/>
            <a:ext cx="3383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Coaches, analysts and managers see different data — or none.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2743200"/>
            <a:ext cx="3657600" cy="15544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743200"/>
            <a:ext cx="3657600" cy="54864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9260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7ECF5"/>
                </a:solidFill>
                <a:latin typeface="Inter"/>
              </a:rPr>
              <a:t>Manual aggregation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383280"/>
            <a:ext cx="3383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Hours per week spent rebuilding spreadsheets from scratch.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2743200"/>
            <a:ext cx="3657600" cy="15544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2743200"/>
            <a:ext cx="3657600" cy="54864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9260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7ECF5"/>
                </a:solidFill>
                <a:latin typeface="Inter"/>
              </a:rPr>
              <a:t>Lost institutional knowledge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383280"/>
            <a:ext cx="3383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Players leave; their match history leaves with them.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434840"/>
            <a:ext cx="3657600" cy="15544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434840"/>
            <a:ext cx="3657600" cy="54864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6177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7ECF5"/>
                </a:solidFill>
                <a:latin typeface="Inter"/>
              </a:rPr>
              <a:t>Inconsistent stats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074920"/>
            <a:ext cx="3383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Each game tracked with its own ad-hoc template.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4434840"/>
            <a:ext cx="3657600" cy="15544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434840"/>
            <a:ext cx="3657600" cy="54864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46177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7ECF5"/>
                </a:solidFill>
                <a:latin typeface="Inter"/>
              </a:rPr>
              <a:t>Slow scouting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074920"/>
            <a:ext cx="3383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Opponent prep restarts before every event.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4434840"/>
            <a:ext cx="3657600" cy="15544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4434840"/>
            <a:ext cx="3657600" cy="54864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46177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7ECF5"/>
                </a:solidFill>
                <a:latin typeface="Inter"/>
              </a:rPr>
              <a:t>No accountability loop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5074920"/>
            <a:ext cx="3383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No clear way to measure if interventions worked.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Roster Intelligence Platform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03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FA8E0"/>
                </a:solidFill>
                <a:latin typeface="Inter"/>
              </a:rPr>
              <a:t>§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697480"/>
            <a:ext cx="640080" cy="45720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9AA6C0"/>
                </a:solidFill>
                <a:latin typeface="Inter"/>
              </a:rPr>
              <a:t>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3756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One platform.</a:t>
            </a:r>
          </a:p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Every roster, every game, every match.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76072"/>
            <a:ext cx="256032" cy="36576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A8E0"/>
                </a:solidFill>
                <a:latin typeface="Inter"/>
              </a:rPr>
              <a:t>03  ·  PLATFORM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7ECF5"/>
                </a:solidFill>
                <a:latin typeface="Inter"/>
              </a:rPr>
              <a:t>A single workspace for every roster your org runs.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548640" cy="45720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2697480" cy="329184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3017520"/>
            <a:ext cx="502920" cy="502920"/>
          </a:xfrm>
          <a:prstGeom prst="roundRect">
            <a:avLst/>
          </a:prstGeom>
          <a:solidFill>
            <a:srgbClr val="0E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0175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Inter"/>
              </a:rPr>
              <a:t>ROS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576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7ECF5"/>
                </a:solidFill>
                <a:latin typeface="Inter"/>
              </a:rPr>
              <a:t>Roster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69080"/>
            <a:ext cx="2148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AA6C0"/>
                </a:solidFill>
                <a:latin typeface="Inter"/>
              </a:rPr>
              <a:t>Multi-roster structure, players, roles, contracts, attendance.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743200"/>
            <a:ext cx="2697480" cy="329184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0" y="3017520"/>
            <a:ext cx="502920" cy="502920"/>
          </a:xfrm>
          <a:prstGeom prst="roundRect">
            <a:avLst/>
          </a:prstGeom>
          <a:solidFill>
            <a:srgbClr val="0E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30175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Inter"/>
              </a:rPr>
              <a:t>ANL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6576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7ECF5"/>
                </a:solidFill>
                <a:latin typeface="Inter"/>
              </a:rPr>
              <a:t>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069080"/>
            <a:ext cx="2148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AA6C0"/>
                </a:solidFill>
                <a:latin typeface="Inter"/>
              </a:rPr>
              <a:t>Hero, map, mode, draft and player performance over time.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743200"/>
            <a:ext cx="2697480" cy="329184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92240" y="3017520"/>
            <a:ext cx="502920" cy="502920"/>
          </a:xfrm>
          <a:prstGeom prst="roundRect">
            <a:avLst/>
          </a:prstGeom>
          <a:solidFill>
            <a:srgbClr val="0E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0175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Inter"/>
              </a:rPr>
              <a:t>SCT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6576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7ECF5"/>
                </a:solidFill>
                <a:latin typeface="Inter"/>
              </a:rPr>
              <a:t>Scouting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069080"/>
            <a:ext cx="2148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AA6C0"/>
                </a:solidFill>
                <a:latin typeface="Inter"/>
              </a:rPr>
              <a:t>Opponent profiles auto-built from your match history.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2743200"/>
            <a:ext cx="2697480" cy="329184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26880" y="3017520"/>
            <a:ext cx="502920" cy="502920"/>
          </a:xfrm>
          <a:prstGeom prst="roundRect">
            <a:avLst/>
          </a:prstGeom>
          <a:solidFill>
            <a:srgbClr val="0E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30175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Inter"/>
              </a:rPr>
              <a:t>ORG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36576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7ECF5"/>
                </a:solidFill>
                <a:latin typeface="Inter"/>
              </a:rPr>
              <a:t>Org Controls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4069080"/>
            <a:ext cx="2148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AA6C0"/>
                </a:solidFill>
                <a:latin typeface="Inter"/>
              </a:rPr>
              <a:t>Roles, permissions, audit trail and access by team.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Roster Intelligence Platform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05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76072"/>
            <a:ext cx="256032" cy="36576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A8E0"/>
                </a:solidFill>
                <a:latin typeface="Inter"/>
              </a:rPr>
              <a:t>04  ·  MULTI-ROSTER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7ECF5"/>
                </a:solidFill>
                <a:latin typeface="Inter"/>
              </a:rPr>
              <a:t>Built around how real esports orgs are organized.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548640" cy="45720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937760" y="2743200"/>
            <a:ext cx="2286000" cy="640080"/>
          </a:xfrm>
          <a:prstGeom prst="round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274320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Inter"/>
              </a:rPr>
              <a:t>Organization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23360"/>
            <a:ext cx="2697480" cy="640080"/>
          </a:xfrm>
          <a:prstGeom prst="roundRect">
            <a:avLst/>
          </a:prstGeom>
          <a:solidFill>
            <a:srgbClr val="1E2C4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02336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7ECF5"/>
                </a:solidFill>
                <a:latin typeface="Inter"/>
              </a:rPr>
              <a:t>Main · Game 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88236" y="3383280"/>
            <a:ext cx="18288" cy="640080"/>
          </a:xfrm>
          <a:prstGeom prst="rect">
            <a:avLst/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5074920"/>
            <a:ext cx="2697480" cy="10972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1206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A8E0"/>
                </a:solidFill>
                <a:latin typeface="Inter"/>
              </a:rPr>
              <a:t>Players · Roles · Stats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440680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9AA6C0"/>
                </a:solidFill>
                <a:latin typeface="Inter"/>
              </a:rPr>
              <a:t>Game-aware templates, contracts, attendance and per-player history.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4023360"/>
            <a:ext cx="2697480" cy="640080"/>
          </a:xfrm>
          <a:prstGeom prst="roundRect">
            <a:avLst/>
          </a:prstGeom>
          <a:solidFill>
            <a:srgbClr val="1E2C4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402336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7ECF5"/>
                </a:solidFill>
                <a:latin typeface="Inter"/>
              </a:rPr>
              <a:t>Academy · Game 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22876" y="3383280"/>
            <a:ext cx="18288" cy="640080"/>
          </a:xfrm>
          <a:prstGeom prst="rect">
            <a:avLst/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83280" y="5074920"/>
            <a:ext cx="2697480" cy="10972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51206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A8E0"/>
                </a:solidFill>
                <a:latin typeface="Inter"/>
              </a:rPr>
              <a:t>Players · Roles · Stats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5440680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9AA6C0"/>
                </a:solidFill>
                <a:latin typeface="Inter"/>
              </a:rPr>
              <a:t>Game-aware templates, contracts, attendance and per-player history.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023360"/>
            <a:ext cx="2697480" cy="640080"/>
          </a:xfrm>
          <a:prstGeom prst="roundRect">
            <a:avLst/>
          </a:prstGeom>
          <a:solidFill>
            <a:srgbClr val="1E2C4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402336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7ECF5"/>
                </a:solidFill>
                <a:latin typeface="Inter"/>
              </a:rPr>
              <a:t>Roster · Game 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57516" y="3383280"/>
            <a:ext cx="18288" cy="640080"/>
          </a:xfrm>
          <a:prstGeom prst="rect">
            <a:avLst/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5074920"/>
            <a:ext cx="2697480" cy="10972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51206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A8E0"/>
                </a:solidFill>
                <a:latin typeface="Inter"/>
              </a:rPr>
              <a:t>Players · Roles · Stats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440680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9AA6C0"/>
                </a:solidFill>
                <a:latin typeface="Inter"/>
              </a:rPr>
              <a:t>Game-aware templates, contracts, attendance and per-player history.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60" y="4023360"/>
            <a:ext cx="2697480" cy="640080"/>
          </a:xfrm>
          <a:prstGeom prst="roundRect">
            <a:avLst/>
          </a:prstGeom>
          <a:solidFill>
            <a:srgbClr val="1E2C4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402336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7ECF5"/>
                </a:solidFill>
                <a:latin typeface="Inter"/>
              </a:rPr>
              <a:t>Roster · Game 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392156" y="3383280"/>
            <a:ext cx="18288" cy="640080"/>
          </a:xfrm>
          <a:prstGeom prst="rect">
            <a:avLst/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52560" y="5074920"/>
            <a:ext cx="2697480" cy="10972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0" y="51206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A8E0"/>
                </a:solidFill>
                <a:latin typeface="Inter"/>
              </a:rPr>
              <a:t>Players · Roles · Stats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5440680"/>
            <a:ext cx="2377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9AA6C0"/>
                </a:solidFill>
                <a:latin typeface="Inter"/>
              </a:rPr>
              <a:t>Game-aware templates, contracts, attendance and per-player history.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97380" y="3383280"/>
            <a:ext cx="8503920" cy="18288"/>
          </a:xfrm>
          <a:prstGeom prst="rect">
            <a:avLst/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Roster Intelligence Platform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06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76072"/>
            <a:ext cx="256032" cy="36576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A8E0"/>
                </a:solidFill>
                <a:latin typeface="Inter"/>
              </a:rPr>
              <a:t>05  ·  GAME TEMPLATES &amp; STATS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7ECF5"/>
                </a:solidFill>
                <a:latin typeface="Inter"/>
              </a:rPr>
              <a:t>Standardized data, customized per game.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6C0"/>
                </a:solidFill>
                <a:latin typeface="Inter"/>
              </a:rPr>
              <a:t>Every game gets a template that captures the right metrics out of the box.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548640" cy="45720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3657600" cy="15544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743200"/>
            <a:ext cx="54864" cy="1554480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9260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7ECF5"/>
                </a:solidFill>
                <a:latin typeface="Inter"/>
              </a:rPr>
              <a:t>Hero shooters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83280"/>
            <a:ext cx="3383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Heroes, roles, maps, modes, comps, KDA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2743200"/>
            <a:ext cx="3657600" cy="15544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2743200"/>
            <a:ext cx="54864" cy="1554480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9260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7ECF5"/>
                </a:solidFill>
                <a:latin typeface="Inter"/>
              </a:rPr>
              <a:t>Tactical FPS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383280"/>
            <a:ext cx="3383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Agents, sides, maps, rounds, eco, plant/defuse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2743200"/>
            <a:ext cx="3657600" cy="15544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2743200"/>
            <a:ext cx="54864" cy="1554480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9260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7ECF5"/>
                </a:solidFill>
                <a:latin typeface="Inter"/>
              </a:rPr>
              <a:t>MOBAs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383280"/>
            <a:ext cx="3383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Heroes, lanes, picks, bans, objectives, KDA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434840"/>
            <a:ext cx="3657600" cy="15544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434840"/>
            <a:ext cx="54864" cy="1554480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6177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7ECF5"/>
                </a:solidFill>
                <a:latin typeface="Inter"/>
              </a:rPr>
              <a:t>Battle royale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074920"/>
            <a:ext cx="3383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Squad, drop, placement, kills, rotations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4434840"/>
            <a:ext cx="3657600" cy="15544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4434840"/>
            <a:ext cx="54864" cy="1554480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46177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7ECF5"/>
                </a:solidFill>
                <a:latin typeface="Inter"/>
              </a:rPr>
              <a:t>Sports / arcade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074920"/>
            <a:ext cx="3383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Score, mode, possession, custom KPIs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4434840"/>
            <a:ext cx="3657600" cy="15544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60" y="4434840"/>
            <a:ext cx="54864" cy="1554480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46177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7ECF5"/>
                </a:solidFill>
                <a:latin typeface="Inter"/>
              </a:rPr>
              <a:t>Custom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5074920"/>
            <a:ext cx="3383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Define your own template per roster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Roster Intelligence Platform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07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76072"/>
            <a:ext cx="256032" cy="36576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A8E0"/>
                </a:solidFill>
                <a:latin typeface="Inter"/>
              </a:rPr>
              <a:t>06  ·  ANALYTICS &amp; SCOUTING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7ECF5"/>
                </a:solidFill>
                <a:latin typeface="Inter"/>
              </a:rPr>
              <a:t>Turn every match into intelligence — automatically.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548640" cy="45720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6858000" cy="33832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971800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7ECF5"/>
                </a:solidFill>
                <a:latin typeface="Inter"/>
              </a:rPr>
              <a:t>Coverage by analysis dimension (illustrative)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93592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Player performance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3675888"/>
            <a:ext cx="3657600" cy="164592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34640" y="3675888"/>
            <a:ext cx="3474720" cy="164592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593592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7ECF5"/>
                </a:solidFill>
                <a:latin typeface="Inter"/>
              </a:rPr>
              <a:t>95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080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Map / mode trends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4151376"/>
            <a:ext cx="3657600" cy="164592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34640" y="4151376"/>
            <a:ext cx="3364992" cy="164592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069080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7ECF5"/>
                </a:solidFill>
                <a:latin typeface="Inter"/>
              </a:rPr>
              <a:t>92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544568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Hero / agent meta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4626864"/>
            <a:ext cx="3657600" cy="164592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34640" y="4626864"/>
            <a:ext cx="3218688" cy="164592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544568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7ECF5"/>
                </a:solidFill>
                <a:latin typeface="Inter"/>
              </a:rPr>
              <a:t>88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020056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Draft / B&amp;P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40" y="5102352"/>
            <a:ext cx="3657600" cy="164592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34640" y="5102352"/>
            <a:ext cx="3108960" cy="164592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5020056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7ECF5"/>
                </a:solidFill>
                <a:latin typeface="Inter"/>
              </a:rPr>
              <a:t>85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495544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Opponent profiles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40" y="5577840"/>
            <a:ext cx="3657600" cy="164592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834640" y="5577840"/>
            <a:ext cx="3291840" cy="164592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5495544"/>
            <a:ext cx="548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7ECF5"/>
                </a:solidFill>
                <a:latin typeface="Inter"/>
              </a:rPr>
              <a:t>90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2743200"/>
            <a:ext cx="41148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FA8E0"/>
                </a:solidFill>
                <a:latin typeface="Inter"/>
              </a:rPr>
              <a:t>▸  </a:t>
            </a:r>
            <a:r>
              <a:rPr sz="1200">
                <a:solidFill>
                  <a:srgbClr val="E7ECF5"/>
                </a:solidFill>
                <a:latin typeface="Inter"/>
              </a:rPr>
              <a:t>Player &amp; team trends across patches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200" b="1">
                <a:solidFill>
                  <a:srgbClr val="1FA8E0"/>
                </a:solidFill>
                <a:latin typeface="Inter"/>
              </a:rPr>
              <a:t>▸  </a:t>
            </a:r>
            <a:r>
              <a:rPr sz="1200">
                <a:solidFill>
                  <a:srgbClr val="E7ECF5"/>
                </a:solidFill>
                <a:latin typeface="Inter"/>
              </a:rPr>
              <a:t>Map and mode win-rates by side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200" b="1">
                <a:solidFill>
                  <a:srgbClr val="1FA8E0"/>
                </a:solidFill>
                <a:latin typeface="Inter"/>
              </a:rPr>
              <a:t>▸  </a:t>
            </a:r>
            <a:r>
              <a:rPr sz="1200">
                <a:solidFill>
                  <a:srgbClr val="E7ECF5"/>
                </a:solidFill>
                <a:latin typeface="Inter"/>
              </a:rPr>
              <a:t>Hero / agent picks, bans and counters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200" b="1">
                <a:solidFill>
                  <a:srgbClr val="1FA8E0"/>
                </a:solidFill>
                <a:latin typeface="Inter"/>
              </a:rPr>
              <a:t>▸  </a:t>
            </a:r>
            <a:r>
              <a:rPr sz="1200">
                <a:solidFill>
                  <a:srgbClr val="E7ECF5"/>
                </a:solidFill>
                <a:latin typeface="Inter"/>
              </a:rPr>
              <a:t>Opponent H2H built automatically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200" b="1">
                <a:solidFill>
                  <a:srgbClr val="1FA8E0"/>
                </a:solidFill>
                <a:latin typeface="Inter"/>
              </a:rPr>
              <a:t>▸  </a:t>
            </a:r>
            <a:r>
              <a:rPr sz="1200">
                <a:solidFill>
                  <a:srgbClr val="E7ECF5"/>
                </a:solidFill>
                <a:latin typeface="Inter"/>
              </a:rPr>
              <a:t>Draft phase analysis with priorities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Roster Intelligence Platform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08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76072"/>
            <a:ext cx="256032" cy="36576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A8E0"/>
                </a:solidFill>
                <a:latin typeface="Inter"/>
              </a:rPr>
              <a:t>07  ·  OPPONENT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7ECF5"/>
                </a:solidFill>
                <a:latin typeface="Inter"/>
              </a:rPr>
              <a:t>Walk into every match knowing what they do — and what they don't.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548640" cy="45720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1FA8E0"/>
                </a:solidFill>
                <a:latin typeface="Inter"/>
              </a:rPr>
              <a:t>▸  </a:t>
            </a:r>
            <a:r>
              <a:rPr sz="1400">
                <a:solidFill>
                  <a:srgbClr val="E7ECF5"/>
                </a:solidFill>
                <a:latin typeface="Inter"/>
              </a:rPr>
              <a:t>Auto-built opponent profiles from your match history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1">
                <a:solidFill>
                  <a:srgbClr val="1FA8E0"/>
                </a:solidFill>
                <a:latin typeface="Inter"/>
              </a:rPr>
              <a:t>▸  </a:t>
            </a:r>
            <a:r>
              <a:rPr sz="1400">
                <a:solidFill>
                  <a:srgbClr val="E7ECF5"/>
                </a:solidFill>
                <a:latin typeface="Inter"/>
              </a:rPr>
              <a:t>Most-picked heroes / agents and ban tendencies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1">
                <a:solidFill>
                  <a:srgbClr val="1FA8E0"/>
                </a:solidFill>
                <a:latin typeface="Inter"/>
              </a:rPr>
              <a:t>▸  </a:t>
            </a:r>
            <a:r>
              <a:rPr sz="1400">
                <a:solidFill>
                  <a:srgbClr val="E7ECF5"/>
                </a:solidFill>
                <a:latin typeface="Inter"/>
              </a:rPr>
              <a:t>Map preferences and side win-rates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1">
                <a:solidFill>
                  <a:srgbClr val="1FA8E0"/>
                </a:solidFill>
                <a:latin typeface="Inter"/>
              </a:rPr>
              <a:t>▸  </a:t>
            </a:r>
            <a:r>
              <a:rPr sz="1400">
                <a:solidFill>
                  <a:srgbClr val="E7ECF5"/>
                </a:solidFill>
                <a:latin typeface="Inter"/>
              </a:rPr>
              <a:t>Patterns by stage, time of day, day of week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400" b="1">
                <a:solidFill>
                  <a:srgbClr val="1FA8E0"/>
                </a:solidFill>
                <a:latin typeface="Inter"/>
              </a:rPr>
              <a:t>▸  </a:t>
            </a:r>
            <a:r>
              <a:rPr sz="1400">
                <a:solidFill>
                  <a:srgbClr val="E7ECF5"/>
                </a:solidFill>
                <a:latin typeface="Inter"/>
              </a:rPr>
              <a:t>Notes from coaches and analysts on the same record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697480"/>
            <a:ext cx="5303520" cy="365760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2697480"/>
            <a:ext cx="5303520" cy="292608"/>
          </a:xfrm>
          <a:prstGeom prst="rect">
            <a:avLst/>
          </a:prstGeom>
          <a:solidFill>
            <a:srgbClr val="1E2C4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37960" y="2788920"/>
            <a:ext cx="118872" cy="118872"/>
          </a:xfrm>
          <a:prstGeom prst="ellipse">
            <a:avLst/>
          </a:prstGeom>
          <a:solidFill>
            <a:srgbClr val="EF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93408" y="2788920"/>
            <a:ext cx="118872" cy="118872"/>
          </a:xfrm>
          <a:prstGeom prst="ellipse">
            <a:avLst/>
          </a:prstGeom>
          <a:solidFill>
            <a:srgbClr val="F5B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48856" y="2788920"/>
            <a:ext cx="118872" cy="118872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990088"/>
            <a:ext cx="1005840" cy="3364992"/>
          </a:xfrm>
          <a:prstGeom prst="rect">
            <a:avLst/>
          </a:prstGeom>
          <a:solidFill>
            <a:srgbClr val="0A0F1C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37960" y="3200400"/>
            <a:ext cx="731520" cy="201168"/>
          </a:xfrm>
          <a:prstGeom prst="rect">
            <a:avLst/>
          </a:prstGeom>
          <a:solidFill>
            <a:srgbClr val="1E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3611880"/>
            <a:ext cx="731520" cy="201168"/>
          </a:xfrm>
          <a:prstGeom prst="rect">
            <a:avLst/>
          </a:prstGeom>
          <a:solidFill>
            <a:srgbClr val="1E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37960" y="4023360"/>
            <a:ext cx="731520" cy="201168"/>
          </a:xfrm>
          <a:prstGeom prst="rect">
            <a:avLst/>
          </a:prstGeom>
          <a:solidFill>
            <a:srgbClr val="1E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37960" y="4434840"/>
            <a:ext cx="731520" cy="201168"/>
          </a:xfrm>
          <a:prstGeom prst="rect">
            <a:avLst/>
          </a:prstGeom>
          <a:solidFill>
            <a:srgbClr val="1E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37960" y="4846320"/>
            <a:ext cx="731520" cy="201168"/>
          </a:xfrm>
          <a:prstGeom prst="rect">
            <a:avLst/>
          </a:prstGeom>
          <a:solidFill>
            <a:srgbClr val="1E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35240" y="3154680"/>
            <a:ext cx="3931920" cy="457200"/>
          </a:xfrm>
          <a:prstGeom prst="rect">
            <a:avLst/>
          </a:prstGeom>
          <a:solidFill>
            <a:srgbClr val="1E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5240" y="3749040"/>
            <a:ext cx="1874520" cy="1097280"/>
          </a:xfrm>
          <a:prstGeom prst="rect">
            <a:avLst/>
          </a:prstGeom>
          <a:solidFill>
            <a:srgbClr val="1E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92640" y="3749040"/>
            <a:ext cx="1874520" cy="1097280"/>
          </a:xfrm>
          <a:prstGeom prst="rect">
            <a:avLst/>
          </a:prstGeom>
          <a:solidFill>
            <a:srgbClr val="1E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35240" y="4983480"/>
            <a:ext cx="3931920" cy="1188720"/>
          </a:xfrm>
          <a:prstGeom prst="rect">
            <a:avLst/>
          </a:prstGeom>
          <a:solidFill>
            <a:srgbClr val="1E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A7895"/>
                </a:solidFill>
                <a:latin typeface="Inter"/>
              </a:rPr>
              <a:t>Opponent profile  ·  swap with real screenshot in Canva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Roster Intelligence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09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76072"/>
            <a:ext cx="256032" cy="36576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A8E0"/>
                </a:solidFill>
                <a:latin typeface="Inter"/>
              </a:rPr>
              <a:t>08  ·  DRAFT / MAP / HERO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7ECF5"/>
                </a:solidFill>
                <a:latin typeface="Inter"/>
              </a:rPr>
              <a:t>Three of the highest-leverage signals in competitive play.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548640" cy="45720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3657600" cy="33832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3657600" cy="73152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7ECF5"/>
                </a:solidFill>
                <a:latin typeface="Inter"/>
              </a:rPr>
              <a:t>Draft / B&amp;P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20440"/>
            <a:ext cx="310896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9AA6C0"/>
                </a:solidFill>
                <a:latin typeface="Inter"/>
              </a:rPr>
              <a:t>What gets banned first, what your roster wins on, and the comps you should target — by opponent.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2743200"/>
            <a:ext cx="3657600" cy="33832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743200"/>
            <a:ext cx="3657600" cy="73152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9718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7ECF5"/>
                </a:solidFill>
                <a:latin typeface="Inter"/>
              </a:rPr>
              <a:t>Map 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520440"/>
            <a:ext cx="310896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9AA6C0"/>
                </a:solidFill>
                <a:latin typeface="Inter"/>
              </a:rPr>
              <a:t>Side, mode and map win-rates. Identify your strongest pool and your weakest gap.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2743200"/>
            <a:ext cx="3657600" cy="33832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2743200"/>
            <a:ext cx="3657600" cy="73152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9718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7ECF5"/>
                </a:solidFill>
                <a:latin typeface="Inter"/>
              </a:rPr>
              <a:t>Hero / agent meta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520440"/>
            <a:ext cx="310896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9AA6C0"/>
                </a:solidFill>
                <a:latin typeface="Inter"/>
              </a:rPr>
              <a:t>Personal pick-rates vs. real win-rates. Stop riding heroes that aren't actually working.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Roster Intelligence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FA8E0"/>
                </a:solidFill>
                <a:latin typeface="Inter"/>
              </a:rPr>
              <a:t>§ 02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697480"/>
            <a:ext cx="640080" cy="45720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9AA6C0"/>
                </a:solidFill>
                <a:latin typeface="Inter"/>
              </a:rPr>
              <a:t>OPERATE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3756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Run the org.</a:t>
            </a:r>
          </a:p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Manage rosters, staff and access.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76072"/>
            <a:ext cx="256032" cy="36576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A8E0"/>
                </a:solidFill>
                <a:latin typeface="Inter"/>
              </a:rPr>
              <a:t>09  ·  TEAM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7ECF5"/>
                </a:solidFill>
                <a:latin typeface="Inter"/>
              </a:rPr>
              <a:t>The everyday workflows your coaches and managers actually 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548640" cy="45720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3657600" cy="15544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3017520"/>
            <a:ext cx="502920" cy="502920"/>
          </a:xfrm>
          <a:prstGeom prst="roundRect">
            <a:avLst/>
          </a:prstGeom>
          <a:solidFill>
            <a:srgbClr val="0E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0175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Inter"/>
              </a:rPr>
              <a:t>ATT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57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7ECF5"/>
                </a:solidFill>
                <a:latin typeface="Inter"/>
              </a:rPr>
              <a:t>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69080"/>
            <a:ext cx="310896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AA6C0"/>
                </a:solidFill>
                <a:latin typeface="Inter"/>
              </a:rPr>
              <a:t>Per event, per player, with reasons and trends.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2743200"/>
            <a:ext cx="3657600" cy="15544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17720" y="3017520"/>
            <a:ext cx="502920" cy="502920"/>
          </a:xfrm>
          <a:prstGeom prst="roundRect">
            <a:avLst/>
          </a:prstGeom>
          <a:solidFill>
            <a:srgbClr val="0E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30175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Inter"/>
              </a:rPr>
              <a:t>EVT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657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7ECF5"/>
                </a:solidFill>
                <a:latin typeface="Inter"/>
              </a:rPr>
              <a:t>Event planning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4069080"/>
            <a:ext cx="310896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AA6C0"/>
                </a:solidFill>
                <a:latin typeface="Inter"/>
              </a:rPr>
              <a:t>Tournaments, scrims, VOD reviews — all linked to results.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2743200"/>
            <a:ext cx="3657600" cy="15544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12480" y="3017520"/>
            <a:ext cx="502920" cy="502920"/>
          </a:xfrm>
          <a:prstGeom prst="roundRect">
            <a:avLst/>
          </a:prstGeom>
          <a:solidFill>
            <a:srgbClr val="0E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30175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Inter"/>
              </a:rPr>
              <a:t>VOD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657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7ECF5"/>
                </a:solidFill>
                <a:latin typeface="Inter"/>
              </a:rPr>
              <a:t>VOD references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069080"/>
            <a:ext cx="310896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AA6C0"/>
                </a:solidFill>
                <a:latin typeface="Inter"/>
              </a:rPr>
              <a:t>Attach links and notes directly to the match.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434840"/>
            <a:ext cx="3657600" cy="15544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4709160"/>
            <a:ext cx="502920" cy="502920"/>
          </a:xfrm>
          <a:prstGeom prst="roundRect">
            <a:avLst/>
          </a:prstGeom>
          <a:solidFill>
            <a:srgbClr val="0E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7091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Inter"/>
              </a:rPr>
              <a:t>CHT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3492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7ECF5"/>
                </a:solidFill>
                <a:latin typeface="Inter"/>
              </a:rPr>
              <a:t>Internal chat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760720"/>
            <a:ext cx="310896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AA6C0"/>
                </a:solidFill>
                <a:latin typeface="Inter"/>
              </a:rPr>
              <a:t>Light context where work actually happens.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434840"/>
            <a:ext cx="3657600" cy="15544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17720" y="4709160"/>
            <a:ext cx="502920" cy="502920"/>
          </a:xfrm>
          <a:prstGeom prst="roundRect">
            <a:avLst/>
          </a:prstGeom>
          <a:solidFill>
            <a:srgbClr val="0E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47091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Inter"/>
              </a:rPr>
              <a:t>PLR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53492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7ECF5"/>
                </a:solidFill>
                <a:latin typeface="Inter"/>
              </a:rPr>
              <a:t>Player profiles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5760720"/>
            <a:ext cx="310896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AA6C0"/>
                </a:solidFill>
                <a:latin typeface="Inter"/>
              </a:rPr>
              <a:t>Roles, status, contact, performance in one place.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0" y="4434840"/>
            <a:ext cx="3657600" cy="15544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12480" y="4709160"/>
            <a:ext cx="502920" cy="502920"/>
          </a:xfrm>
          <a:prstGeom prst="roundRect">
            <a:avLst/>
          </a:prstGeom>
          <a:solidFill>
            <a:srgbClr val="0E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47091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Inter"/>
              </a:rPr>
              <a:t>RPT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53492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7ECF5"/>
                </a:solidFill>
                <a:latin typeface="Inter"/>
              </a:rPr>
              <a:t>Performance reports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5760720"/>
            <a:ext cx="310896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AA6C0"/>
                </a:solidFill>
                <a:latin typeface="Inter"/>
              </a:rPr>
              <a:t>Generate weekly / monthly read-outs in seconds.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Roster Intelligence Platform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76072"/>
            <a:ext cx="256032" cy="36576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A8E0"/>
                </a:solidFill>
                <a:latin typeface="Inter"/>
              </a:rPr>
              <a:t>10  ·  SCALING ACROSS STAFF &amp;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7ECF5"/>
                </a:solidFill>
                <a:latin typeface="Inter"/>
              </a:rPr>
              <a:t>Your org can grow without your spreadsheets multiplying.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548640" cy="45720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2560320" cy="320040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2560320" cy="73152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9718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FA8E0"/>
                </a:solidFill>
                <a:latin typeface="Inter"/>
              </a:rPr>
              <a:t>STEP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7ECF5"/>
                </a:solidFill>
                <a:latin typeface="Inter"/>
              </a:rPr>
              <a:t>Add a roster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40480"/>
            <a:ext cx="21031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New game, new line-up — set up in minutes from a template.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27248" y="4320540"/>
            <a:ext cx="237744" cy="45720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2743200"/>
            <a:ext cx="2560320" cy="320040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2743200"/>
            <a:ext cx="2560320" cy="73152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29718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FA8E0"/>
                </a:solidFill>
                <a:latin typeface="Inter"/>
              </a:rPr>
              <a:t>STEP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3375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7ECF5"/>
                </a:solidFill>
                <a:latin typeface="Inter"/>
              </a:rPr>
              <a:t>Invite staff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840480"/>
            <a:ext cx="21031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Coaches, analysts, managers, with per-roster access.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61888" y="4320540"/>
            <a:ext cx="237744" cy="45720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743200"/>
            <a:ext cx="2560320" cy="320040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743200"/>
            <a:ext cx="2560320" cy="73152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9718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FA8E0"/>
                </a:solidFill>
                <a:latin typeface="Inter"/>
              </a:rPr>
              <a:t>STEP 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3375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7ECF5"/>
                </a:solidFill>
                <a:latin typeface="Inter"/>
              </a:rPr>
              <a:t>Standardize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840480"/>
            <a:ext cx="21031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Same metrics, same definitions, every team.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96528" y="4320540"/>
            <a:ext cx="237744" cy="45720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52560" y="2743200"/>
            <a:ext cx="2560320" cy="320040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52560" y="2743200"/>
            <a:ext cx="2560320" cy="73152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60" y="29718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FA8E0"/>
                </a:solidFill>
                <a:latin typeface="Inter"/>
              </a:rPr>
              <a:t>STEP 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33375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7ECF5"/>
                </a:solidFill>
                <a:latin typeface="Inter"/>
              </a:rPr>
              <a:t>Roll up to org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3840480"/>
            <a:ext cx="21031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Aggregate across rosters for leadership read-outs.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Roster Intelligence Platform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76072"/>
            <a:ext cx="256032" cy="36576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A8E0"/>
                </a:solidFill>
                <a:latin typeface="Inter"/>
              </a:rPr>
              <a:t>11  ·  SECURITY &amp;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7ECF5"/>
                </a:solidFill>
                <a:latin typeface="Inter"/>
              </a:rPr>
              <a:t>Granular control over who sees what — by role, by roster.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548640" cy="45720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2697480" cy="33832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3017520"/>
            <a:ext cx="502920" cy="502920"/>
          </a:xfrm>
          <a:prstGeom prst="roundRect">
            <a:avLst/>
          </a:prstGeom>
          <a:solidFill>
            <a:srgbClr val="0E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0175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576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7ECF5"/>
                </a:solidFill>
                <a:latin typeface="Inter"/>
              </a:rPr>
              <a:t>Role-based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69080"/>
            <a:ext cx="214884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AA6C0"/>
                </a:solidFill>
                <a:latin typeface="Inter"/>
              </a:rPr>
              <a:t>Owner, manager, coach, analyst, player — distinct permissions.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743200"/>
            <a:ext cx="2697480" cy="33832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0" y="3017520"/>
            <a:ext cx="502920" cy="502920"/>
          </a:xfrm>
          <a:prstGeom prst="roundRect">
            <a:avLst/>
          </a:prstGeom>
          <a:solidFill>
            <a:srgbClr val="0E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30175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Inter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6576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7ECF5"/>
                </a:solidFill>
                <a:latin typeface="Inter"/>
              </a:rPr>
              <a:t>Per-roster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069080"/>
            <a:ext cx="214884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AA6C0"/>
                </a:solidFill>
                <a:latin typeface="Inter"/>
              </a:rPr>
              <a:t>Limit a coach to their roster; managers see across.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743200"/>
            <a:ext cx="2697480" cy="33832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92240" y="3017520"/>
            <a:ext cx="502920" cy="502920"/>
          </a:xfrm>
          <a:prstGeom prst="roundRect">
            <a:avLst/>
          </a:prstGeom>
          <a:solidFill>
            <a:srgbClr val="0E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0175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Inter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6576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7ECF5"/>
                </a:solidFill>
                <a:latin typeface="Inter"/>
              </a:rPr>
              <a:t>Audit visibility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069080"/>
            <a:ext cx="214884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AA6C0"/>
                </a:solidFill>
                <a:latin typeface="Inter"/>
              </a:rPr>
              <a:t>Track key changes, additions and removals.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2743200"/>
            <a:ext cx="2697480" cy="33832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26880" y="3017520"/>
            <a:ext cx="502920" cy="502920"/>
          </a:xfrm>
          <a:prstGeom prst="roundRect">
            <a:avLst/>
          </a:prstGeom>
          <a:solidFill>
            <a:srgbClr val="0E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30175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Inter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36576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7ECF5"/>
                </a:solidFill>
                <a:latin typeface="Inter"/>
              </a:rPr>
              <a:t>Data ownership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4069080"/>
            <a:ext cx="214884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AA6C0"/>
                </a:solidFill>
                <a:latin typeface="Inter"/>
              </a:rPr>
              <a:t>Your data, your export, your retention controls.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Roster Intelligence Platform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76072"/>
            <a:ext cx="256032" cy="36576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A8E0"/>
                </a:solidFill>
                <a:latin typeface="Inter"/>
              </a:rPr>
              <a:t>12  ·  WHY THIS MATTERS COMPETITIVELY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7ECF5"/>
                </a:solidFill>
                <a:latin typeface="Inter"/>
              </a:rPr>
              <a:t>What changes for the org once the platform is in place.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548640" cy="45720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3688080" cy="563880"/>
          </a:xfrm>
          <a:prstGeom prst="rect">
            <a:avLst/>
          </a:prstGeom>
          <a:solidFill>
            <a:srgbClr val="1E2C4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743200"/>
            <a:ext cx="3413760" cy="563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7ECF5"/>
                </a:solidFill>
                <a:latin typeface="Inter"/>
              </a:rPr>
              <a:t>Capability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6720" y="2743200"/>
            <a:ext cx="3688080" cy="563880"/>
          </a:xfrm>
          <a:prstGeom prst="rect">
            <a:avLst/>
          </a:prstGeom>
          <a:solidFill>
            <a:srgbClr val="1E2C4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3880" y="2743200"/>
            <a:ext cx="3413760" cy="563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7ECF5"/>
                </a:solidFill>
                <a:latin typeface="Inter"/>
              </a:rPr>
              <a:t>Today (manual)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4800" y="2743200"/>
            <a:ext cx="3688080" cy="563880"/>
          </a:xfrm>
          <a:prstGeom prst="rect">
            <a:avLst/>
          </a:prstGeom>
          <a:solidFill>
            <a:srgbClr val="1FA8E0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1960" y="2743200"/>
            <a:ext cx="3413760" cy="563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With the Platform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07080"/>
            <a:ext cx="3688080" cy="5638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07080"/>
            <a:ext cx="3413760" cy="563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7ECF5"/>
                </a:solidFill>
                <a:latin typeface="Inter"/>
              </a:rPr>
              <a:t>Cross-roster visibility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36720" y="3307080"/>
            <a:ext cx="3688080" cy="5638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3880" y="3307080"/>
            <a:ext cx="3413760" cy="563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None — every roster is its own island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24800" y="3307080"/>
            <a:ext cx="3688080" cy="563880"/>
          </a:xfrm>
          <a:prstGeom prst="rect">
            <a:avLst/>
          </a:prstGeom>
          <a:solidFill>
            <a:srgbClr val="1E2C4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61960" y="3307080"/>
            <a:ext cx="3413760" cy="563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Inter"/>
              </a:rPr>
              <a:t>Unified org view across all rosters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870960"/>
            <a:ext cx="3688080" cy="563880"/>
          </a:xfrm>
          <a:prstGeom prst="rect">
            <a:avLst/>
          </a:prstGeom>
          <a:solidFill>
            <a:srgbClr val="0F172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870960"/>
            <a:ext cx="3413760" cy="563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7ECF5"/>
                </a:solidFill>
                <a:latin typeface="Inter"/>
              </a:rPr>
              <a:t>Match history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36720" y="3870960"/>
            <a:ext cx="3688080" cy="563880"/>
          </a:xfrm>
          <a:prstGeom prst="rect">
            <a:avLst/>
          </a:prstGeom>
          <a:solidFill>
            <a:srgbClr val="0F172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73880" y="3870960"/>
            <a:ext cx="3413760" cy="563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Lost when players leave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24800" y="3870960"/>
            <a:ext cx="3688080" cy="563880"/>
          </a:xfrm>
          <a:prstGeom prst="rect">
            <a:avLst/>
          </a:prstGeom>
          <a:solidFill>
            <a:srgbClr val="1E2C4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61960" y="3870960"/>
            <a:ext cx="3413760" cy="563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Inter"/>
              </a:rPr>
              <a:t>Persistent, searchable, owned by the org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434840"/>
            <a:ext cx="3688080" cy="5638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434840"/>
            <a:ext cx="3413760" cy="563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7ECF5"/>
                </a:solidFill>
                <a:latin typeface="Inter"/>
              </a:rPr>
              <a:t>Scouting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36720" y="4434840"/>
            <a:ext cx="3688080" cy="5638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73880" y="4434840"/>
            <a:ext cx="3413760" cy="563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Restarted every event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24800" y="4434840"/>
            <a:ext cx="3688080" cy="563880"/>
          </a:xfrm>
          <a:prstGeom prst="rect">
            <a:avLst/>
          </a:prstGeom>
          <a:solidFill>
            <a:srgbClr val="1E2C4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61960" y="4434840"/>
            <a:ext cx="3413760" cy="563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Inter"/>
              </a:rPr>
              <a:t>Auto-built from your own match history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998720"/>
            <a:ext cx="3688080" cy="563880"/>
          </a:xfrm>
          <a:prstGeom prst="rect">
            <a:avLst/>
          </a:prstGeom>
          <a:solidFill>
            <a:srgbClr val="0F172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998720"/>
            <a:ext cx="3413760" cy="563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7ECF5"/>
                </a:solidFill>
                <a:latin typeface="Inter"/>
              </a:rPr>
              <a:t>Performance review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36720" y="4998720"/>
            <a:ext cx="3688080" cy="563880"/>
          </a:xfrm>
          <a:prstGeom prst="rect">
            <a:avLst/>
          </a:prstGeom>
          <a:solidFill>
            <a:srgbClr val="0F172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73880" y="4998720"/>
            <a:ext cx="3413760" cy="563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Anecdotal, vibes-based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24800" y="4998720"/>
            <a:ext cx="3688080" cy="563880"/>
          </a:xfrm>
          <a:prstGeom prst="rect">
            <a:avLst/>
          </a:prstGeom>
          <a:solidFill>
            <a:srgbClr val="1E2C4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61960" y="4998720"/>
            <a:ext cx="3413760" cy="563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Inter"/>
              </a:rPr>
              <a:t>Quantified, consistent, comparable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562600"/>
            <a:ext cx="3688080" cy="5638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562600"/>
            <a:ext cx="3413760" cy="563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7ECF5"/>
                </a:solidFill>
                <a:latin typeface="Inter"/>
              </a:rPr>
              <a:t>Onboarding new staff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36720" y="5562600"/>
            <a:ext cx="3688080" cy="5638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73880" y="5562600"/>
            <a:ext cx="3413760" cy="563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Months of context-building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24800" y="5562600"/>
            <a:ext cx="3688080" cy="563880"/>
          </a:xfrm>
          <a:prstGeom prst="rect">
            <a:avLst/>
          </a:prstGeom>
          <a:solidFill>
            <a:srgbClr val="1E2C4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61960" y="5562600"/>
            <a:ext cx="3413760" cy="563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Inter"/>
              </a:rPr>
              <a:t>Hours — the data is already there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Roster Intelligence Platform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76072"/>
            <a:ext cx="256032" cy="36576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A8E0"/>
                </a:solidFill>
                <a:latin typeface="Inter"/>
              </a:rPr>
              <a:t>13  ·  ROI FRAMING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7ECF5"/>
                </a:solidFill>
                <a:latin typeface="Inter"/>
              </a:rPr>
              <a:t>What organizations consistently get back.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548640" cy="45720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5486400" cy="15544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3152" cy="1554480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01752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Inter"/>
              </a:rPr>
              <a:t>8–12h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862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9AA6C0"/>
                </a:solidFill>
                <a:latin typeface="Inter"/>
              </a:rPr>
              <a:t>of analyst / coach time saved per roster, per month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743200"/>
            <a:ext cx="5486400" cy="15544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743200"/>
            <a:ext cx="73152" cy="155448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01752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Inter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8862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9AA6C0"/>
                </a:solidFill>
                <a:latin typeface="Inter"/>
              </a:rPr>
              <a:t>of match history retained when players move 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434840"/>
            <a:ext cx="5486400" cy="15544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434840"/>
            <a:ext cx="73152" cy="1554480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70916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Inter"/>
              </a:rPr>
              <a:t>3×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57784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9AA6C0"/>
                </a:solidFill>
                <a:latin typeface="Inter"/>
              </a:rPr>
              <a:t>faster opponent prep vs. manual scouting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434840"/>
            <a:ext cx="5486400" cy="155448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4434840"/>
            <a:ext cx="73152" cy="1554480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70916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57784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9AA6C0"/>
                </a:solidFill>
                <a:latin typeface="Inter"/>
              </a:rPr>
              <a:t>single source of truth for the entire org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Roster Intelligence Platform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76072"/>
            <a:ext cx="256032" cy="36576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A8E0"/>
                </a:solidFill>
                <a:latin typeface="Inter"/>
              </a:rPr>
              <a:t>14  ·  PRICING &amp; ADOPTION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7ECF5"/>
                </a:solidFill>
                <a:latin typeface="Inter"/>
              </a:rPr>
              <a:t>A predictable plan that grows with your org.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548640" cy="45720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3657600" cy="365760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7ECF5"/>
                </a:solidFill>
                <a:latin typeface="Inter"/>
              </a:rPr>
              <a:t>Starter Org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832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1–2 rosters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862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E7ECF5"/>
                </a:solidFill>
                <a:latin typeface="Inter"/>
              </a:rPr>
              <a:t>$ —  / month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edit price in Canva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00600"/>
            <a:ext cx="31089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>
                <a:solidFill>
                  <a:srgbClr val="1FA8E0"/>
                </a:solidFill>
                <a:latin typeface="Inter"/>
              </a:rPr>
              <a:t>▸  </a:t>
            </a:r>
            <a:r>
              <a:rPr sz="1000">
                <a:solidFill>
                  <a:srgbClr val="E7ECF5"/>
                </a:solidFill>
                <a:latin typeface="Inter"/>
              </a:rPr>
              <a:t>Up to 2 rosters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1000" b="1">
                <a:solidFill>
                  <a:srgbClr val="1FA8E0"/>
                </a:solidFill>
                <a:latin typeface="Inter"/>
              </a:rPr>
              <a:t>▸  </a:t>
            </a:r>
            <a:r>
              <a:rPr sz="1000">
                <a:solidFill>
                  <a:srgbClr val="E7ECF5"/>
                </a:solidFill>
                <a:latin typeface="Inter"/>
              </a:rPr>
              <a:t>Up to 8 staff seats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1000" b="1">
                <a:solidFill>
                  <a:srgbClr val="1FA8E0"/>
                </a:solidFill>
                <a:latin typeface="Inter"/>
              </a:rPr>
              <a:t>▸  </a:t>
            </a:r>
            <a:r>
              <a:rPr sz="1000">
                <a:solidFill>
                  <a:srgbClr val="E7ECF5"/>
                </a:solidFill>
                <a:latin typeface="Inter"/>
              </a:rPr>
              <a:t>Core analytics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1000" b="1">
                <a:solidFill>
                  <a:srgbClr val="1FA8E0"/>
                </a:solidFill>
                <a:latin typeface="Inter"/>
              </a:rPr>
              <a:t>▸  </a:t>
            </a:r>
            <a:r>
              <a:rPr sz="1000">
                <a:solidFill>
                  <a:srgbClr val="E7ECF5"/>
                </a:solidFill>
                <a:latin typeface="Inter"/>
              </a:rPr>
              <a:t>Standard support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2743200"/>
            <a:ext cx="3657600" cy="3657600"/>
          </a:xfrm>
          <a:prstGeom prst="rect">
            <a:avLst/>
          </a:prstGeom>
          <a:solidFill>
            <a:srgbClr val="1E2C4A"/>
          </a:solidFill>
          <a:ln w="19050">
            <a:solidFill>
              <a:srgbClr val="1FA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43400" y="2542032"/>
            <a:ext cx="1280160" cy="274320"/>
          </a:xfrm>
          <a:prstGeom prst="round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254203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>
                <a:solidFill>
                  <a:srgbClr val="FFFFFF"/>
                </a:solidFill>
                <a:latin typeface="Inter"/>
              </a:rPr>
              <a:t>RECOMMENDED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9260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7ECF5"/>
                </a:solidFill>
                <a:latin typeface="Inter"/>
              </a:rPr>
              <a:t>Pro Org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3832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Most multi-roster orgs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8862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FA8E0"/>
                </a:solidFill>
                <a:latin typeface="Inter"/>
              </a:rPr>
              <a:t>$ —  /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4348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edit price in Canva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800600"/>
            <a:ext cx="31089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>
                <a:solidFill>
                  <a:srgbClr val="1FA8E0"/>
                </a:solidFill>
                <a:latin typeface="Inter"/>
              </a:rPr>
              <a:t>▸  </a:t>
            </a:r>
            <a:r>
              <a:rPr sz="1000">
                <a:solidFill>
                  <a:srgbClr val="E7ECF5"/>
                </a:solidFill>
                <a:latin typeface="Inter"/>
              </a:rPr>
              <a:t>Up to 6 rosters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1000" b="1">
                <a:solidFill>
                  <a:srgbClr val="1FA8E0"/>
                </a:solidFill>
                <a:latin typeface="Inter"/>
              </a:rPr>
              <a:t>▸  </a:t>
            </a:r>
            <a:r>
              <a:rPr sz="1000">
                <a:solidFill>
                  <a:srgbClr val="E7ECF5"/>
                </a:solidFill>
                <a:latin typeface="Inter"/>
              </a:rPr>
              <a:t>Up to 25 staff seats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1000" b="1">
                <a:solidFill>
                  <a:srgbClr val="1FA8E0"/>
                </a:solidFill>
                <a:latin typeface="Inter"/>
              </a:rPr>
              <a:t>▸  </a:t>
            </a:r>
            <a:r>
              <a:rPr sz="1000">
                <a:solidFill>
                  <a:srgbClr val="E7ECF5"/>
                </a:solidFill>
                <a:latin typeface="Inter"/>
              </a:rPr>
              <a:t>Full analytics &amp; scouting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1000" b="1">
                <a:solidFill>
                  <a:srgbClr val="1FA8E0"/>
                </a:solidFill>
                <a:latin typeface="Inter"/>
              </a:rPr>
              <a:t>▸  </a:t>
            </a:r>
            <a:r>
              <a:rPr sz="1000">
                <a:solidFill>
                  <a:srgbClr val="E7ECF5"/>
                </a:solidFill>
                <a:latin typeface="Inter"/>
              </a:rPr>
              <a:t>Role-based access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1000" b="1">
                <a:solidFill>
                  <a:srgbClr val="1FA8E0"/>
                </a:solidFill>
                <a:latin typeface="Inter"/>
              </a:rPr>
              <a:t>▸  </a:t>
            </a:r>
            <a:r>
              <a:rPr sz="1000">
                <a:solidFill>
                  <a:srgbClr val="E7ECF5"/>
                </a:solidFill>
                <a:latin typeface="Inter"/>
              </a:rPr>
              <a:t>Priority support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2743200"/>
            <a:ext cx="3657600" cy="3657600"/>
          </a:xfrm>
          <a:prstGeom prst="rect">
            <a:avLst/>
          </a:prstGeom>
          <a:solidFill>
            <a:srgbClr val="16213A"/>
          </a:solidFill>
          <a:ln w="9525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29260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7ECF5"/>
                </a:solidFill>
                <a:latin typeface="Inter"/>
              </a:rPr>
              <a:t>Enterprise / Pro+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3832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AA6C0"/>
                </a:solidFill>
                <a:latin typeface="Inter"/>
              </a:rPr>
              <a:t>Pro orgs and federations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8862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E7ECF5"/>
                </a:solidFill>
                <a:latin typeface="Inter"/>
              </a:rPr>
              <a:t>$ —  / month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4348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edit price in Canva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800600"/>
            <a:ext cx="31089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>
                <a:solidFill>
                  <a:srgbClr val="1FA8E0"/>
                </a:solidFill>
                <a:latin typeface="Inter"/>
              </a:rPr>
              <a:t>▸  </a:t>
            </a:r>
            <a:r>
              <a:rPr sz="1000">
                <a:solidFill>
                  <a:srgbClr val="E7ECF5"/>
                </a:solidFill>
                <a:latin typeface="Inter"/>
              </a:rPr>
              <a:t>Unlimited rosters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1000" b="1">
                <a:solidFill>
                  <a:srgbClr val="1FA8E0"/>
                </a:solidFill>
                <a:latin typeface="Inter"/>
              </a:rPr>
              <a:t>▸  </a:t>
            </a:r>
            <a:r>
              <a:rPr sz="1000">
                <a:solidFill>
                  <a:srgbClr val="E7ECF5"/>
                </a:solidFill>
                <a:latin typeface="Inter"/>
              </a:rPr>
              <a:t>Unlimited seats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1000" b="1">
                <a:solidFill>
                  <a:srgbClr val="1FA8E0"/>
                </a:solidFill>
                <a:latin typeface="Inter"/>
              </a:rPr>
              <a:t>▸  </a:t>
            </a:r>
            <a:r>
              <a:rPr sz="1000">
                <a:solidFill>
                  <a:srgbClr val="E7ECF5"/>
                </a:solidFill>
                <a:latin typeface="Inter"/>
              </a:rPr>
              <a:t>Org-wide reporting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1000" b="1">
                <a:solidFill>
                  <a:srgbClr val="1FA8E0"/>
                </a:solidFill>
                <a:latin typeface="Inter"/>
              </a:rPr>
              <a:t>▸  </a:t>
            </a:r>
            <a:r>
              <a:rPr sz="1000">
                <a:solidFill>
                  <a:srgbClr val="E7ECF5"/>
                </a:solidFill>
                <a:latin typeface="Inter"/>
              </a:rPr>
              <a:t>SLA &amp; dedicated success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1000" b="1">
                <a:solidFill>
                  <a:srgbClr val="1FA8E0"/>
                </a:solidFill>
                <a:latin typeface="Inter"/>
              </a:rPr>
              <a:t>▸  </a:t>
            </a:r>
            <a:r>
              <a:rPr sz="1000">
                <a:solidFill>
                  <a:srgbClr val="E7ECF5"/>
                </a:solidFill>
                <a:latin typeface="Inter"/>
              </a:rPr>
              <a:t>Custom templates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Roster Intelligence Platform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92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A7895"/>
                </a:solidFill>
                <a:latin typeface="Inter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176272"/>
            <a:ext cx="256032" cy="36576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21031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26D55"/>
                </a:solidFill>
                <a:latin typeface="Inter"/>
              </a:rPr>
              <a:t>MOVE YOUR ORG FORWARD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09728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>
                <a:solidFill>
                  <a:srgbClr val="FFFFFF"/>
                </a:solidFill>
                <a:latin typeface="Inter"/>
              </a:rPr>
              <a:t>Bring every roster</a:t>
            </a:r>
          </a:p>
          <a:p>
            <a:pPr algn="l">
              <a:lnSpc>
                <a:spcPct val="105000"/>
              </a:lnSpc>
            </a:pPr>
            <a:r>
              <a:rPr sz="5200" b="1">
                <a:solidFill>
                  <a:srgbClr val="FFFFFF"/>
                </a:solidFill>
                <a:latin typeface="Inter"/>
              </a:rPr>
              <a:t>into one professional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262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9AA6C0"/>
                </a:solidFill>
                <a:latin typeface="Inter"/>
              </a:rPr>
              <a:t>Pilot the platform with one roster. Roll it out across the org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9AA6C0"/>
                </a:solidFill>
                <a:latin typeface="Inter"/>
              </a:rPr>
              <a:t>once your staff has felt the difference.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486400"/>
            <a:ext cx="3291840" cy="594360"/>
          </a:xfrm>
          <a:prstGeom prst="round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48640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Inter"/>
              </a:rPr>
              <a:t>START AN ORG PILOT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5486400"/>
            <a:ext cx="3291840" cy="594360"/>
          </a:xfrm>
          <a:prstGeom prst="roundRect">
            <a:avLst/>
          </a:prstGeom>
          <a:noFill/>
          <a:ln w="15875">
            <a:solidFill>
              <a:srgbClr val="1FA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548640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FA8E0"/>
                </a:solidFill>
                <a:latin typeface="Inter"/>
              </a:rPr>
              <a:t>BOOK A 30-MIN WALKTHROUGH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A7895"/>
                </a:solidFill>
                <a:latin typeface="Inter"/>
              </a:rPr>
              <a:t>Replace the buttons with your real URLs in Canva.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26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Inter"/>
              </a:rPr>
              <a:t>Built for orgs</a:t>
            </a:r>
          </a:p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Inter"/>
              </a:rPr>
              <a:t>that play to win.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9AA6C0"/>
                </a:solidFill>
                <a:latin typeface="Inter"/>
              </a:rPr>
              <a:t>Roster Intelligence  ·  Organization Edition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937760"/>
            <a:ext cx="640080" cy="45720"/>
          </a:xfrm>
          <a:prstGeom prst="rect">
            <a:avLst/>
          </a:prstGeom>
          <a:solidFill>
            <a:srgbClr val="1F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A8E0"/>
                </a:solidFill>
                <a:latin typeface="Inter"/>
              </a:rPr>
              <a:t>hello@yourdomain.com   ·   yourdomain.com   ·   @yourhandle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