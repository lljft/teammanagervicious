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4407" y="85725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8686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Inter"/>
              </a:rPr>
              <a:t>VICIOUS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1325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CA3AF"/>
                </a:solidFill>
                <a:latin typeface="Inter"/>
              </a:rPr>
              <a:t>ESPORTS  ·  TEAM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5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VICIOUS  ·  ORGANIZATION EDITION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Run your esports org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like a professional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A unified roster, analytics and scouting platform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built for organizations, coaches and managers.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ORGANIZATIONS  ·  MULTI-ROSTER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01  · 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Most esports orgs run on group chats and gut feel.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A3AF"/>
                </a:solidFill>
                <a:latin typeface="Inter"/>
              </a:rPr>
              <a:t>The data exists. It's just trapped in screenshots, DMs and a coach's head.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Each roster tracks things differently — or not at all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Match history lives in chat, not in a system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Scouting is restarted from scratch every event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Coaching staff can't see what management sees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Performance reviews are vibes, not numbers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743200"/>
            <a:ext cx="256032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73152" cy="15544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of amateur orgs keep structured match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743200"/>
            <a:ext cx="256032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274320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30175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5+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the average org juggles per roster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434840"/>
            <a:ext cx="530352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4434840"/>
            <a:ext cx="73152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7091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single source of truth for performance — until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02  ·  TODAY'S WORKFLOW IS LEAKING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Where time, knowledge and competitive edge get lost.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Information silos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Coaches, analysts and managers see different data — or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Manual aggregation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Hours per week spent rebuilding spreadsheets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74320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Lost institutional 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Players leave; their match history leaves with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Inconsistent 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Each game tracked with its own ad-hoc template.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443484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Slow scouting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Opponent prep restarts before every event.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4434840"/>
            <a:ext cx="3657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No accountability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No clear way to measure if interventions worked.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881235" y="2263140"/>
            <a:ext cx="1634490" cy="1571625"/>
          </a:xfrm>
          <a:custGeom>
            <a:avLst/>
            <a:gdLst/>
            <a:ahLst/>
            <a:cxnLst/>
            <a:rect l="l" t="t" r="r" b="b"/>
            <a:pathLst>
              <a:path w="1634490" h="1571625">
                <a:moveTo>
                  <a:pt x="0" y="0"/>
                </a:moveTo>
                <a:lnTo>
                  <a:pt x="440055" y="0"/>
                </a:lnTo>
                <a:lnTo>
                  <a:pt x="817245" y="1068705"/>
                </a:lnTo>
                <a:lnTo>
                  <a:pt x="1194435" y="0"/>
                </a:lnTo>
                <a:lnTo>
                  <a:pt x="1634490" y="0"/>
                </a:lnTo>
                <a:lnTo>
                  <a:pt x="942975" y="1571625"/>
                </a:lnTo>
                <a:lnTo>
                  <a:pt x="691515" y="1571625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11D2E"/>
                </a:solidFill>
                <a:latin typeface="Inter"/>
              </a:rPr>
              <a:t>§ 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CA3AF"/>
                </a:solidFill>
                <a:latin typeface="Inter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One platform.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Every roster, every game, every match.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03  ·  PLATFORM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A single workspace for every roster your org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69748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Roster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Multi-roster structure, players, roles, contracts, attendance.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69748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ANL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Hero, map, mode, draft and player performance over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69748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Scouting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Opponent profiles auto-built from your match history.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2743200"/>
            <a:ext cx="269748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Org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069080"/>
            <a:ext cx="2148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Roles, permissions, audit trail and access by team.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04  ·  MULTI-ROSTER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Built around how real esports orgs are organized.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0" y="2743200"/>
            <a:ext cx="2286000" cy="640080"/>
          </a:xfrm>
          <a:prstGeom prst="round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Organization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2697480" cy="640080"/>
          </a:xfrm>
          <a:prstGeom prst="round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Main · Game 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88236" y="3383280"/>
            <a:ext cx="18288" cy="640080"/>
          </a:xfrm>
          <a:prstGeom prst="rect">
            <a:avLst/>
          </a:prstGeom>
          <a:solidFill>
            <a:srgbClr val="2A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074920"/>
            <a:ext cx="269748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Players · Roles · Stats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4023360"/>
            <a:ext cx="2697480" cy="640080"/>
          </a:xfrm>
          <a:prstGeom prst="round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Academy · Game 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22876" y="3383280"/>
            <a:ext cx="18288" cy="640080"/>
          </a:xfrm>
          <a:prstGeom prst="rect">
            <a:avLst/>
          </a:prstGeom>
          <a:solidFill>
            <a:srgbClr val="2A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83280" y="5074920"/>
            <a:ext cx="269748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Players · Roles ·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2697480" cy="640080"/>
          </a:xfrm>
          <a:prstGeom prst="round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Roster · Game 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7516" y="3383280"/>
            <a:ext cx="18288" cy="640080"/>
          </a:xfrm>
          <a:prstGeom prst="rect">
            <a:avLst/>
          </a:prstGeom>
          <a:solidFill>
            <a:srgbClr val="2A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5074920"/>
            <a:ext cx="269748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Players · Roles · Stats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4023360"/>
            <a:ext cx="2697480" cy="640080"/>
          </a:xfrm>
          <a:prstGeom prst="round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0" y="4023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Roster · Game 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92156" y="3383280"/>
            <a:ext cx="18288" cy="640080"/>
          </a:xfrm>
          <a:prstGeom prst="rect">
            <a:avLst/>
          </a:prstGeom>
          <a:solidFill>
            <a:srgbClr val="2A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5074920"/>
            <a:ext cx="269748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120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Players · Roles · Stats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4406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Game-aware templates, contracts, attendance and per-player history.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7380" y="3383280"/>
            <a:ext cx="8503920" cy="18288"/>
          </a:xfrm>
          <a:prstGeom prst="rect">
            <a:avLst/>
          </a:prstGeom>
          <a:solidFill>
            <a:srgbClr val="2A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05  ·  GAME TEMPLATES &amp; STATS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Standardized data, customized per game.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A3AF"/>
                </a:solidFill>
                <a:latin typeface="Inter"/>
              </a:rPr>
              <a:t>Every game gets a template that captures the right metrics out of the box.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Hero shooters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Heroes, roles, maps, modes, comps, KDA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4320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Tactical FPS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Agents, sides, maps, rounds, eco, plant/defuse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74320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926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MOBAs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3832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Heroes, lanes, picks, bans, objectives, KDA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3484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Battle royale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Squad, drop, placement, kills, rotations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43484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Sports / arcade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Score, mode, possession, custom KPIs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4434840"/>
            <a:ext cx="54864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617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Custom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749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Define your own template per roster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06  ·  ANALYTICS &amp; SCOUTING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Turn every match into intelligence — automatically.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Coverage by analysis dimension (illustrative)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93592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Player performance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3675888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3675888"/>
            <a:ext cx="3474720" cy="16459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593592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Map / mode trends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4151376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34640" y="4151376"/>
            <a:ext cx="3364992" cy="16459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06908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44568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Hero / agent meta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4626864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34640" y="4626864"/>
            <a:ext cx="3218688" cy="16459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54456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20056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Draft / B&amp;P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5102352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5102352"/>
            <a:ext cx="3108960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02005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95544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Opponent profiles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34640" y="5577840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34640" y="5577840"/>
            <a:ext cx="3291840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495544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Player &amp; team trends across patches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Map and mode win-rates by side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Hero / agent picks, bans and counters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Opponent H2H built automatically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Draft phase analysis with priorities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07  ·  OPPONENT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Walk into every match knowing what they do — and what they don't.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Auto-built opponent profiles from your match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Most-picked heroes / agents and ban tendencies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Map preferences and side win-rates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Patterns by stage, time of day, day of week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1">
                <a:solidFill>
                  <a:srgbClr val="E11D2E"/>
                </a:solidFill>
                <a:latin typeface="Inter"/>
              </a:rPr>
              <a:t>▸  </a:t>
            </a:r>
            <a:r>
              <a:rPr sz="1400">
                <a:solidFill>
                  <a:srgbClr val="F5F6F8"/>
                </a:solidFill>
                <a:latin typeface="Inter"/>
              </a:rPr>
              <a:t>Notes from coaches and analysts on the same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697480"/>
            <a:ext cx="530352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697480"/>
            <a:ext cx="5303520" cy="292608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60" y="2788920"/>
            <a:ext cx="118872" cy="11887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93408" y="278892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48856" y="2788920"/>
            <a:ext cx="118872" cy="11887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55664" y="3044952"/>
            <a:ext cx="5193792" cy="3255264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pponents_page_1775904047714_5193792x3255264_1775904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3044952"/>
            <a:ext cx="5193792" cy="3255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0" y="64465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Opponent profile  ·  live product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08  ·  DRAFT / MAP / HERO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Three of the highest-leverage signals in competitive play.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5760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6F8"/>
                </a:solidFill>
                <a:latin typeface="Inter"/>
              </a:rPr>
              <a:t>Draft / B&amp;P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CA3AF"/>
                </a:solidFill>
                <a:latin typeface="Inter"/>
              </a:rPr>
              <a:t>What gets banned first, what your roster wins on, and the comps you should target — by opponent.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6F8"/>
                </a:solidFill>
                <a:latin typeface="Inter"/>
              </a:rPr>
              <a:t>Map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CA3AF"/>
                </a:solidFill>
                <a:latin typeface="Inter"/>
              </a:rPr>
              <a:t>Side, mode and map win-rates. Identify your strongest pool and your weakest gap.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365760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743200"/>
            <a:ext cx="365760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971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6F8"/>
                </a:solidFill>
                <a:latin typeface="Inter"/>
              </a:rPr>
              <a:t>Hero / agent meta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52044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CA3AF"/>
                </a:solidFill>
                <a:latin typeface="Inter"/>
              </a:rPr>
              <a:t>Personal pick-rates vs. real win-rates. Stop riding heroes that aren't actually working.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881235" y="2263140"/>
            <a:ext cx="1634490" cy="1571625"/>
          </a:xfrm>
          <a:custGeom>
            <a:avLst/>
            <a:gdLst/>
            <a:ahLst/>
            <a:cxnLst/>
            <a:rect l="l" t="t" r="r" b="b"/>
            <a:pathLst>
              <a:path w="1634490" h="1571625">
                <a:moveTo>
                  <a:pt x="0" y="0"/>
                </a:moveTo>
                <a:lnTo>
                  <a:pt x="440055" y="0"/>
                </a:lnTo>
                <a:lnTo>
                  <a:pt x="817245" y="1068705"/>
                </a:lnTo>
                <a:lnTo>
                  <a:pt x="1194435" y="0"/>
                </a:lnTo>
                <a:lnTo>
                  <a:pt x="1634490" y="0"/>
                </a:lnTo>
                <a:lnTo>
                  <a:pt x="942975" y="1571625"/>
                </a:lnTo>
                <a:lnTo>
                  <a:pt x="691515" y="1571625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11D2E"/>
                </a:solidFill>
                <a:latin typeface="Inter"/>
              </a:rPr>
              <a:t>§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64008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CA3AF"/>
                </a:solidFill>
                <a:latin typeface="Inter"/>
              </a:rPr>
              <a:t>OPERATE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Run the org.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Manage rosters, staff and access.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09  ·  TEAM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The everyday workflows your coaches and managers actually 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Attendance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Per event, per player, with reasons and trends.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Event planning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Tournaments, scrims, VOD reviews — all linked to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VOD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VOD 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06908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Attach links and notes directly to the match.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70916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CHT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Internal chat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Light context where work actually happens.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17720" y="470916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PLR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Player profiles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Roles, status, contact, performance in one place.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470916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47091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349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Performance reports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760720"/>
            <a:ext cx="3108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Generate weekly / monthly read-outs in seconds.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10  ·  SCALING ACROSS STAFF &amp;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Your org can grow without your spreadsheets multiplying.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Add a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New game, new line-up — set up in minutes from a template.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Invite staff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Coaches, analysts, managers, with per-roster access.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Standardize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Same metrics, same definitions, every team.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Roll up to org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Aggregate across rosters for leadership read-outs.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11  ·  SECURITY &amp;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Granular control over who sees what — by role, by roster.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69748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Role-based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Owner, manager, coach, analyst, player — distinct permissions.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69748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Per-roster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Limit a coach to their roster; managers see across.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69748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Audit 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Track key changes, additions and removals.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2743200"/>
            <a:ext cx="269748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Data ownership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069080"/>
            <a:ext cx="21488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Your data, your export, your retention controls.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12  ·  WHY THIS MATTERS COMPETITIVELY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What changes for the org once the platform is in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Today (manual)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E11D2E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With the Platform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Cross-roster visibility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None — every roster is its own island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Unified org view across all rosters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Match history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Lost when players leave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Persistent, searchable, owned by the org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Scouting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Restarted every event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Auto-built from your own match 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Performance review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Anecdotal, vibes-based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Quantified, consistent, comparable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Onboarding new staff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Months of context-building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Hours — the data is already there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13  ·  ROI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What organizations consistently get 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54864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73152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8–12h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of analyst / coach time saved per roster, per month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743200"/>
            <a:ext cx="54864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743200"/>
            <a:ext cx="73152" cy="1554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of match history retained when players move 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434840"/>
            <a:ext cx="54864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faster opponent prep vs. manual scouting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434840"/>
            <a:ext cx="54864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434840"/>
            <a:ext cx="73152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70916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577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single source of truth for the entire 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14  ·  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Per-roster pricing tiered by game. Scales linearly across your org.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Lite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Free Fire, Fortnite, Apex, PUBG, EAFC, Rocket League, eFootball, Deadlock, TrackMania, fighting games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5F6F8"/>
                </a:solidFill>
                <a:latin typeface="Inter"/>
              </a:rPr>
              <a:t>$8 USD / month per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$18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$31 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org features included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222835"/>
          </a:solidFill>
          <a:ln w="19050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RECOMMENDED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Dota 2, CS:GO, LoL, Mobile Legends, Honor of Kings, TFT, CrossFire, CoD Mobile, The Finals, Brawl Stars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11D2E"/>
                </a:solidFill>
                <a:latin typeface="Inter"/>
              </a:rPr>
              <a:t>$20 USD / month per roster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$45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$78 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org features included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Valorant, Overwatch, Rainbow Six Siege, Call of Duty, Marvel Rivals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5F6F8"/>
                </a:solidFill>
                <a:latin typeface="Inter"/>
              </a:rPr>
              <a:t>$40 USD / month per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$90  per roster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$156 per roster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Unlimited staff seats per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org features included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Website-only access (no roster analytics): $40 USD / month flat, org-wide.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667047" y="58293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VICIOUS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9E0B"/>
                </a:solidFill>
                <a:latin typeface="Inter"/>
              </a:rPr>
              <a:t>MOVE YOUR ORG 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Bring every roster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into one professional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CA3AF"/>
                </a:solidFill>
                <a:latin typeface="Inter"/>
              </a:rPr>
              <a:t>Pilot the platform with one roster. Roll it out across the org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CA3AF"/>
                </a:solidFill>
                <a:latin typeface="Inter"/>
              </a:rPr>
              <a:t>once your staff has felt the difference.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AN ORG PILOT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11D2E"/>
                </a:solidFill>
                <a:latin typeface="Inter"/>
              </a:rPr>
              <a:t>BOOK A 30-MIN WALKTHROUGH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4407" y="85725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8686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Inter"/>
              </a:rPr>
              <a:t>VICIOUS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Built for orgs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that play to win.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VICIOUS  ·  The command center for multi-game esports orgs.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1D2E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