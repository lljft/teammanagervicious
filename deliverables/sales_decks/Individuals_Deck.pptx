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4407" y="85725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8686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Inter"/>
              </a:rPr>
              <a:t>VICIOUS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9928" y="13258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>
                <a:solidFill>
                  <a:srgbClr val="9CA3AF"/>
                </a:solidFill>
                <a:latin typeface="Inter"/>
              </a:rPr>
              <a:t>ESPORTS  ·  TEAM PLATFORM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32720" y="640080"/>
            <a:ext cx="1463040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332720" y="786384"/>
            <a:ext cx="822960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0332720" y="877824"/>
            <a:ext cx="365760" cy="36576"/>
          </a:xfrm>
          <a:prstGeom prst="rect">
            <a:avLst/>
          </a:prstGeom>
          <a:solidFill>
            <a:srgbClr val="5B65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14400" y="226771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98448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VICIOUS  ·  SINGLE ROSTER EDITION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606040"/>
            <a:ext cx="100584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Stop guessing.</a:t>
            </a:r>
          </a:p>
          <a:p>
            <a:pPr algn="l">
              <a:lnSpc>
                <a:spcPct val="100000"/>
              </a:lnSpc>
            </a:pPr>
            <a:r>
              <a:rPr sz="5800" b="1">
                <a:solidFill>
                  <a:srgbClr val="FFFFFF"/>
                </a:solidFill>
                <a:latin typeface="Inter"/>
              </a:rPr>
              <a:t>Start winning your matches.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9601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A professional-grade roster, stats and prep workspace —</a:t>
            </a:r>
          </a:p>
          <a:p>
            <a:pPr algn="l">
              <a:lnSpc>
                <a:spcPct val="130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built for the player who takes the game seriously.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4400" y="5669280"/>
            <a:ext cx="3291840" cy="411480"/>
          </a:xfrm>
          <a:prstGeom prst="roundRect">
            <a:avLst/>
          </a:prstGeom>
          <a:noFill/>
          <a:ln w="12700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87568"/>
            <a:ext cx="3291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INDIVIDUALS  ·  SINGLE ROSTER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626364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Confidential sales material   ·   Built for esports orgs, coaches &amp; competitive players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01  ·  WHAT THIS 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Your personal command center for one competitive roster.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A3AF"/>
                </a:solidFill>
                <a:latin typeface="Inter"/>
              </a:rPr>
              <a:t>Everything you need to track performance, prepare for opponents and improve —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365760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One Roster, Fully Owned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Your players, your matches, your stats, your scouting notes. Private to you, organized like a pro team would.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434840" y="2743200"/>
            <a:ext cx="365760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7091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09160" y="36576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Real Match Data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09160" y="40690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Log results, drafts, maps, heroes/agents and KDA — and watch trends emerge automatically as you play.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21040" y="2743200"/>
            <a:ext cx="3383280" cy="32918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5953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53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595360" y="3657600"/>
            <a:ext cx="2834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Pre-Match Prep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595360" y="4069080"/>
            <a:ext cx="283464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Scout opponents, study past meetups, and walk into your next match knowing exactly what works.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02  ·  WHY ONE ROSTER MATTERS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Most players lose matches before they start.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A3AF"/>
                </a:solidFill>
                <a:latin typeface="Inter"/>
              </a:rPr>
              <a:t>Memory, group chats and screenshots don't scale past a few weeks of competitive play.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743200"/>
            <a:ext cx="54864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You forget which comps actually work for your line-up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You can't see your real win-rate by map, mode or opponent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Scouting an opponent means scrolling through Discord history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Improvement feels invisible — there's nothing to point at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0" y="2743200"/>
            <a:ext cx="246888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0" y="274320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73%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of amateur players can't recall their last 5 drafts accurately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235440" y="2743200"/>
            <a:ext cx="246888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235440" y="2743200"/>
            <a:ext cx="73152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09760" y="3017520"/>
            <a:ext cx="1920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2.4×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0" y="388620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improvement rate when prep is structured vs. ad-hoc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83680" y="4434840"/>
            <a:ext cx="512064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583680" y="4434840"/>
            <a:ext cx="73152" cy="1554480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0" y="470916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1 roster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0" y="55778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is all it takes to start playing like an organized team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03  ·  WHAT YOU GET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One roster. Eight workspaces. Zero spreadsheets.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RST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Players, roles, contact, status.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EVT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Tournaments, scrims, VOD reviews.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Matches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Full results with maps and modes.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27432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OPP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Opponents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0690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Linked head-to-head history.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5720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822960" y="48463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HRO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Heroes / 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Pick-rates, win-rates, comps.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83280" y="45720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3657600" y="48463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MAP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65760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Maps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Side, mode and map performance.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45720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6492240" y="48463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DFT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Draft / B&amp;P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9224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What you ban, pick and beat.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052560" y="4572000"/>
            <a:ext cx="2697480" cy="1691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9326880" y="48463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326880" y="48463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STA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326880" y="54864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Stats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326880" y="5897880"/>
            <a:ext cx="21488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Personal &amp; team trends over time.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04  ·  FEATURES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Everything below ships with a single roster — no add-ons, no upsells.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Roster &amp; attendance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Add players, set roles, track availability for every event.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43400" y="274320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Match logging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Capture maps, modes, score, result and notes in under 60 seconds.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74320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138160" y="274320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60" y="288036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Opponent profiles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24612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Link every match to an opponent and see your true H2H history.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977639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977639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724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Hero / agent stats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Pick-rate, win-rate and synergy across your last N matches.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43400" y="3977639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43400" y="3977639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Map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Side win-rate, attack vs. defense, mode-by-mode performance.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38160" y="3977639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38160" y="3977639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66760" y="4114799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Draft / B&amp;P insights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66760" y="4480559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What gets banned, what wins, what loses — over time.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521208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48640" y="521208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7724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Player comparisons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7724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Stack two players head-to-head on any metric.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343400" y="521208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43400" y="521208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Filters &amp; timeframes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Slice by event, opponent, patch, map or window.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138160" y="5212080"/>
            <a:ext cx="36576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138160" y="5212080"/>
            <a:ext cx="54864" cy="10972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66760" y="534924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Dark / light themes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66760" y="5715000"/>
            <a:ext cx="33832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Built for late-night prep sessions and bright cafés alike.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05  ·  PERFORMANCE &amp; PREP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From 'we'll figure it out' to 'we've prepared for this'.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6858000" cy="3383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971800"/>
            <a:ext cx="6309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5F6F8"/>
                </a:solidFill>
                <a:latin typeface="Inter"/>
              </a:rPr>
              <a:t>Match win-rate by preparation depth (illustrative)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59359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No prep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3735324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834640" y="3735324"/>
            <a:ext cx="1536192" cy="164592"/>
          </a:xfrm>
          <a:prstGeom prst="rect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359359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42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418795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Quick scout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834640" y="4329684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834640" y="4329684"/>
            <a:ext cx="1975104" cy="16459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418795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54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478231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Structured prep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34640" y="4924044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834640" y="4924044"/>
            <a:ext cx="2450592" cy="16459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0" y="478231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67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376672"/>
            <a:ext cx="19202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Platform prep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834640" y="5518404"/>
            <a:ext cx="3657600" cy="164592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834640" y="5518404"/>
            <a:ext cx="2852928" cy="164592"/>
          </a:xfrm>
          <a:prstGeom prst="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5376672"/>
            <a:ext cx="548640" cy="4480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0" y="2743200"/>
            <a:ext cx="4114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Walk into matches with a plan, not a vibe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Identify your weakest map and fix it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Spot the comps your opponent loses to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Catch your own bad habits before they cost you</a:t>
            </a:r>
          </a:p>
          <a:p>
            <a:pPr algn="l">
              <a:lnSpc>
                <a:spcPct val="135000"/>
              </a:lnSpc>
              <a:spcBef>
                <a:spcPts val="4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Build a season narrative you can actually review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06  ·  HOW IT LOOKS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Built like a pro tool. Designed to be readable in a war room.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697480"/>
            <a:ext cx="731520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697480"/>
            <a:ext cx="7315200" cy="292608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85800" y="2788920"/>
            <a:ext cx="118872" cy="118872"/>
          </a:xfrm>
          <a:prstGeom prst="ellipse">
            <a:avLst/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41248" y="2788920"/>
            <a:ext cx="118872" cy="118872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6696" y="2788920"/>
            <a:ext cx="118872" cy="118872"/>
          </a:xfrm>
          <a:prstGeom prst="ellipse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3504" y="3044952"/>
            <a:ext cx="7205472" cy="3255264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Dashboard_users_1771832454665_7205472x3255264_177183244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3044952"/>
            <a:ext cx="7205472" cy="32552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Dashboard  ·  live product 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Dark, premium UI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Information-dense without being noisy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Keyboard-friendly entry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Fast filters across every view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200" b="1">
                <a:solidFill>
                  <a:srgbClr val="E11D2E"/>
                </a:solidFill>
                <a:latin typeface="Inter"/>
              </a:rPr>
              <a:t>▸  </a:t>
            </a:r>
            <a:r>
              <a:rPr sz="1200">
                <a:solidFill>
                  <a:srgbClr val="F5F6F8"/>
                </a:solidFill>
                <a:latin typeface="Inter"/>
              </a:rPr>
              <a:t>Mobile-friendly for live events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07  ·  HOW IT WORKS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Four steps from sign-up to your first informed match.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256032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Create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Add your players, set roles and your competitive game.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12724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8328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38328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1188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1188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Log matches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Drop in results, maps, drafts and notes as you play.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6188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0" y="2743200"/>
            <a:ext cx="2560320" cy="73152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Review insights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Trends, comps and matchup data appear automatically.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796528" y="4320540"/>
            <a:ext cx="237744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9052560" y="2743200"/>
            <a:ext cx="256032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052560" y="2743200"/>
            <a:ext cx="2560320" cy="73152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281160" y="2971800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>
                <a:solidFill>
                  <a:srgbClr val="E11D2E"/>
                </a:solidFill>
                <a:latin typeface="Inter"/>
              </a:rPr>
              <a:t>STEP 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81160" y="33375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Prep &amp; repeat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81160" y="3840480"/>
            <a:ext cx="21031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Use the data to plan your next match and tighten the loop.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08  ·  EXAMPLE USE CASE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A solo competitive player preparing for an online cup.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9CA3AF"/>
                </a:solidFill>
                <a:latin typeface="Inter"/>
              </a:rPr>
              <a:t>Two weeks of prep. One roster. A measurable outcome.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7432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Day 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11680" y="2743200"/>
            <a:ext cx="9601200" cy="548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194560" y="27432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6F8"/>
                </a:solidFill>
                <a:latin typeface="Inter"/>
              </a:rPr>
              <a:t>Sets up roster, imports last 10 scrim results.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4290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Day 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3429000"/>
            <a:ext cx="9601200" cy="548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194560" y="34290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6F8"/>
                </a:solidFill>
                <a:latin typeface="Inter"/>
              </a:rPr>
              <a:t>Identifies a 31% win-rate on Mode X — flags it for practice.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41148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Day 7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11680" y="4114800"/>
            <a:ext cx="9601200" cy="548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94560" y="41148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6F8"/>
                </a:solidFill>
                <a:latin typeface="Inter"/>
              </a:rPr>
              <a:t>Scouts cup opponents — spots a recurring ban pattern.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48006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Day 10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4800600"/>
            <a:ext cx="9601200" cy="548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194560" y="48006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6F8"/>
                </a:solidFill>
                <a:latin typeface="Inter"/>
              </a:rPr>
              <a:t>Drafts three counter-comps in the planner.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5486400"/>
            <a:ext cx="1371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E11D2E"/>
                </a:solidFill>
                <a:latin typeface="Inter"/>
              </a:rPr>
              <a:t>Cup day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5486400"/>
            <a:ext cx="9601200" cy="54864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194560" y="5486400"/>
            <a:ext cx="932688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F5F6F8"/>
                </a:solidFill>
                <a:latin typeface="Inter"/>
              </a:rPr>
              <a:t>Wins 4 / 5 best-of-threes. 2 of them on Mode X.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09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09  ·  PRICING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One price per roster. Pick the plan that matches your game.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5760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Lite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Free Fire, Fortnite, Apex, PUBG, EAFC, Rocket League, eFootball, Deadlock, TrackMania, fighting games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5F6F8"/>
                </a:solidFill>
                <a:latin typeface="Inter"/>
              </a:rPr>
              <a:t>$8 USD / month per roster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$18 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$31 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features included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Cancel anytime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743200"/>
            <a:ext cx="3657600" cy="3657600"/>
          </a:xfrm>
          <a:prstGeom prst="rect">
            <a:avLst/>
          </a:prstGeom>
          <a:solidFill>
            <a:srgbClr val="222835"/>
          </a:solidFill>
          <a:ln w="19050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343400" y="2542032"/>
            <a:ext cx="1280160" cy="274320"/>
          </a:xfrm>
          <a:prstGeom prst="round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43400" y="254203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>
                <a:solidFill>
                  <a:srgbClr val="FFFFFF"/>
                </a:solidFill>
                <a:latin typeface="Inter"/>
              </a:rPr>
              <a:t>MOST POPULAR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Standard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Dota 2, CS:GO, LoL, Mobile Legends, Honor of Kings, TFT, CrossFire, CoD Mobile, The Finals, Brawl Stars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1772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E11D2E"/>
                </a:solidFill>
                <a:latin typeface="Inter"/>
              </a:rPr>
              <a:t>$20 USD / month per roster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$45 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$78 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features included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Cancel anytime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38160" y="2743200"/>
            <a:ext cx="3657600" cy="36576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0" y="2880360"/>
            <a:ext cx="3108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F5F6F8"/>
                </a:solidFill>
                <a:latin typeface="Inter"/>
              </a:rPr>
              <a:t>Premium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291840"/>
            <a:ext cx="31089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9CA3AF"/>
                </a:solidFill>
                <a:latin typeface="Inter"/>
              </a:rPr>
              <a:t>Valorant, Overwatch, Rainbow Six Siege, Call of Duty, Marvel Rivals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977639"/>
            <a:ext cx="3108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F5F6F8"/>
                </a:solidFill>
                <a:latin typeface="Inter"/>
              </a:rPr>
              <a:t>$40 USD / month per roster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4526280"/>
            <a:ext cx="310896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3 months: $90  (save 25%)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6 months: $156 (save 35%)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All features included</a:t>
            </a:r>
          </a:p>
          <a:p>
            <a:pPr algn="l">
              <a:lnSpc>
                <a:spcPct val="135000"/>
              </a:lnSpc>
              <a:spcBef>
                <a:spcPts val="200"/>
              </a:spcBef>
            </a:pPr>
            <a:r>
              <a:rPr sz="1000" b="1">
                <a:solidFill>
                  <a:srgbClr val="E11D2E"/>
                </a:solidFill>
                <a:latin typeface="Inter"/>
              </a:rPr>
              <a:t>▸  </a:t>
            </a:r>
            <a:r>
              <a:rPr sz="1000">
                <a:solidFill>
                  <a:srgbClr val="F5F6F8"/>
                </a:solidFill>
                <a:latin typeface="Inter"/>
              </a:rPr>
              <a:t>Cancel anytime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Website-only access (no roster analytics): $40 USD / month flat.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10  ·  MANUAL VS. PLATFORM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What changes when you stop using spreadsheets and notes apps.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Capability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36720" y="27432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7388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5F6F8"/>
                </a:solidFill>
                <a:latin typeface="Inter"/>
              </a:rPr>
              <a:t>Spreadsheets / Notes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24800" y="2743200"/>
            <a:ext cx="3688080" cy="563880"/>
          </a:xfrm>
          <a:prstGeom prst="rect">
            <a:avLst/>
          </a:prstGeom>
          <a:solidFill>
            <a:srgbClr val="E11D2E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61960" y="27432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Inter"/>
              </a:rPr>
              <a:t>Single Roster Plan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30708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80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Match history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36720" y="330708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7388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Manual entry, often forgotten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24800" y="330708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1960" y="330708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Logged in under a minute, searchable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387096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Opponent scouting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36720" y="387096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37388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Scrolling old chats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924800" y="387096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61960" y="387096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Linked H2H profiles auto-built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443484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580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Hero / map insights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236720" y="443484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37388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Calculated by hand (rarely)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924800" y="443484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61960" y="443484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Win-rate, pick-rate ready instantly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40" y="499872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8580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Draft analysis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236720" y="4998720"/>
            <a:ext cx="3688080" cy="563880"/>
          </a:xfrm>
          <a:prstGeom prst="rect">
            <a:avLst/>
          </a:prstGeom>
          <a:solidFill>
            <a:srgbClr val="0E1117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37388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Effectively impossible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924800" y="499872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061960" y="499872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Bans, picks and counters over time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556260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8580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000" b="1">
                <a:solidFill>
                  <a:srgbClr val="F5F6F8"/>
                </a:solidFill>
                <a:latin typeface="Inter"/>
              </a:rPr>
              <a:t>Sharing with coach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36720" y="5562600"/>
            <a:ext cx="3688080" cy="5638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7388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Screenshots in Discord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24800" y="5562600"/>
            <a:ext cx="3688080" cy="563880"/>
          </a:xfrm>
          <a:prstGeom prst="rect">
            <a:avLst/>
          </a:prstGeom>
          <a:solidFill>
            <a:srgbClr val="222835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061960" y="5562600"/>
            <a:ext cx="3413760" cy="5638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000" b="0">
                <a:solidFill>
                  <a:srgbClr val="FFFFFF"/>
                </a:solidFill>
                <a:latin typeface="Inter"/>
              </a:rPr>
              <a:t>Clean read-only view (with add-on)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11  ·  FAQ &amp; OBJECTIONS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The honest answers to what most buyers ask first.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Is one roster really enough for me?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Yes — if you only play one game competitively with one line-up, one roster covers everything.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743200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28803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Do I need to be on a team?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324612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No. Many users are solo competitive players using the roster as their personal record.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40" y="3977639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Will it work for my game?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If your game has matches, maps/modes and characters/heroes, the templates already fit.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3977639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46520" y="4114799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Can I export my data later?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480559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Yes. Your data stays yours; export is supported.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40" y="5212080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7724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What if I outgrow it?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You can upgrade to the Organizations plan and bring all your data with you.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5212080"/>
            <a:ext cx="5486400" cy="10972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53492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11D2E"/>
                </a:solidFill>
                <a:latin typeface="Inter"/>
              </a:rPr>
              <a:t>How long until I see value?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5715000"/>
            <a:ext cx="5212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000" b="0">
                <a:solidFill>
                  <a:srgbClr val="9CA3AF"/>
                </a:solidFill>
                <a:latin typeface="Inter"/>
              </a:rPr>
              <a:t>Most users get useful insights after logging 8–10 matches — usually within the first week.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12  ·  WHY 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Every match you play unprepared is data you'll never get back.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743200"/>
            <a:ext cx="68580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Your competition is already tracking — quietly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Patches change the meta faster than memory can keep up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Off-season is the cheapest time to build the habit</a:t>
            </a:r>
          </a:p>
          <a:p>
            <a:pPr algn="l">
              <a:lnSpc>
                <a:spcPct val="135000"/>
              </a:lnSpc>
              <a:spcBef>
                <a:spcPts val="600"/>
              </a:spcBef>
            </a:pPr>
            <a:r>
              <a:rPr sz="1500" b="1">
                <a:solidFill>
                  <a:srgbClr val="E11D2E"/>
                </a:solidFill>
                <a:latin typeface="Inter"/>
              </a:rPr>
              <a:t>▸  </a:t>
            </a:r>
            <a:r>
              <a:rPr sz="1500">
                <a:solidFill>
                  <a:srgbClr val="F5F6F8"/>
                </a:solidFill>
                <a:latin typeface="Inter"/>
              </a:rPr>
              <a:t>You don't need a team to play like one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274320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955279" y="2743200"/>
            <a:ext cx="73152" cy="155448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599" y="301752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&lt; 1 min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9" y="388620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to log a match in the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55279" y="4434840"/>
            <a:ext cx="3657600" cy="155448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955279" y="4434840"/>
            <a:ext cx="73152" cy="15544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599" y="4709160"/>
            <a:ext cx="31089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FFFFFF"/>
                </a:solidFill>
                <a:latin typeface="Inter"/>
              </a:rPr>
              <a:t>8–10 games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599" y="5577840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until insights become actionable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11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0" y="6565392"/>
            <a:ext cx="3291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>
                <a:solidFill>
                  <a:srgbClr val="5B6573"/>
                </a:solidFill>
                <a:latin typeface="Inter"/>
              </a:rPr>
              <a:t>V I C I O U S</a:t>
            </a:r>
          </a:p>
        </p:txBody>
      </p:sp>
      <p:sp>
        <p:nvSpPr>
          <p:cNvPr id="5" name="Freeform 4"/>
          <p:cNvSpPr/>
          <p:nvPr/>
        </p:nvSpPr>
        <p:spPr>
          <a:xfrm>
            <a:off x="8043861" y="6567678"/>
            <a:ext cx="133731" cy="128587"/>
          </a:xfrm>
          <a:custGeom>
            <a:avLst/>
            <a:gdLst/>
            <a:ahLst/>
            <a:cxnLst/>
            <a:rect l="l" t="t" r="r" b="b"/>
            <a:pathLst>
              <a:path w="133731" h="128587">
                <a:moveTo>
                  <a:pt x="0" y="0"/>
                </a:moveTo>
                <a:lnTo>
                  <a:pt x="36005" y="0"/>
                </a:lnTo>
                <a:lnTo>
                  <a:pt x="66866" y="87439"/>
                </a:lnTo>
                <a:lnTo>
                  <a:pt x="97727" y="0"/>
                </a:lnTo>
                <a:lnTo>
                  <a:pt x="133731" y="0"/>
                </a:lnTo>
                <a:lnTo>
                  <a:pt x="77153" y="128587"/>
                </a:lnTo>
                <a:lnTo>
                  <a:pt x="56579" y="128587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576072"/>
            <a:ext cx="256032" cy="36576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32688" y="5029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11D2E"/>
                </a:solidFill>
                <a:latin typeface="Inter"/>
              </a:rPr>
              <a:t>13  ·  ZERO-RISK START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86868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200" b="1">
                <a:solidFill>
                  <a:srgbClr val="F5F6F8"/>
                </a:solidFill>
                <a:latin typeface="Inter"/>
              </a:rPr>
              <a:t>We make it easy to try, easy to stay, easy to leave.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240280"/>
            <a:ext cx="548640" cy="45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48640" y="2743200"/>
            <a:ext cx="269748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Cancel anytime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No long-term contracts or hidden fees.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83280" y="2743200"/>
            <a:ext cx="269748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5760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5760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Your data is yours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Export anytime in standard formats.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743200"/>
            <a:ext cx="269748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9224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9224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Migrate up later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Move to Organizations plan with no data loss.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2743200"/>
            <a:ext cx="2697480" cy="3200400"/>
          </a:xfrm>
          <a:prstGeom prst="rect">
            <a:avLst/>
          </a:prstGeom>
          <a:solidFill>
            <a:srgbClr val="1A1F2A"/>
          </a:solidFill>
          <a:ln w="9525">
            <a:solidFill>
              <a:srgbClr val="2A31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326880" y="3017520"/>
            <a:ext cx="502920" cy="502920"/>
          </a:xfrm>
          <a:prstGeom prst="roundRect">
            <a:avLst/>
          </a:prstGeom>
          <a:solidFill>
            <a:srgbClr val="99142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326880" y="3017520"/>
            <a:ext cx="502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Inter"/>
              </a:rPr>
              <a:t>04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3657600"/>
            <a:ext cx="2148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Live support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4069080"/>
            <a:ext cx="21488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9CA3AF"/>
                </a:solidFill>
                <a:latin typeface="Inter"/>
              </a:rPr>
              <a:t>Real humans answer real questions.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VICIOUS  ·  Esports Team Platform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49224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>
                <a:solidFill>
                  <a:srgbClr val="5B6573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10667047" y="58293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5F6F8"/>
                </a:solidFill>
                <a:latin typeface="Inter"/>
              </a:rPr>
              <a:t>VICIOUS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76272"/>
            <a:ext cx="256032" cy="36576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21031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F59E0B"/>
                </a:solidFill>
                <a:latin typeface="Inter"/>
              </a:rPr>
              <a:t>TAKE THE NEXT STEP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51460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Buy one roster.</a:t>
            </a:r>
          </a:p>
          <a:p>
            <a:pPr algn="l">
              <a:lnSpc>
                <a:spcPct val="105000"/>
              </a:lnSpc>
            </a:pPr>
            <a:r>
              <a:rPr sz="5200" b="1">
                <a:solidFill>
                  <a:srgbClr val="FFFFFF"/>
                </a:solidFill>
                <a:latin typeface="Inter"/>
              </a:rPr>
              <a:t>Start playing like a team of one.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452628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0">
                <a:solidFill>
                  <a:srgbClr val="9CA3AF"/>
                </a:solidFill>
                <a:latin typeface="Inter"/>
              </a:rPr>
              <a:t>Sign up, set up your roster in under five minutes,</a:t>
            </a:r>
          </a:p>
          <a:p>
            <a:pPr algn="l">
              <a:lnSpc>
                <a:spcPct val="135000"/>
              </a:lnSpc>
            </a:pPr>
            <a:r>
              <a:rPr sz="1600" b="0">
                <a:solidFill>
                  <a:srgbClr val="9CA3AF"/>
                </a:solidFill>
                <a:latin typeface="Inter"/>
              </a:rPr>
              <a:t>and log your first match tonight.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5486400"/>
            <a:ext cx="3291840" cy="594360"/>
          </a:xfrm>
          <a:prstGeom prst="round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Inter"/>
              </a:rPr>
              <a:t>START FREE TRIAL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114800" y="5486400"/>
            <a:ext cx="3291840" cy="594360"/>
          </a:xfrm>
          <a:prstGeom prst="roundRect">
            <a:avLst/>
          </a:prstGeom>
          <a:noFill/>
          <a:ln w="15875">
            <a:solidFill>
              <a:srgbClr val="E1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5486400"/>
            <a:ext cx="3291840" cy="594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E11D2E"/>
                </a:solidFill>
                <a:latin typeface="Inter"/>
              </a:rPr>
              <a:t>BOOK A 15-MIN DEMO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2636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B6573"/>
                </a:solidFill>
                <a:latin typeface="Inter"/>
              </a:rPr>
              <a:t>Replace the buttons with your real URLs in Canva.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0A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Freeform 4"/>
          <p:cNvSpPr/>
          <p:nvPr/>
        </p:nvSpPr>
        <p:spPr>
          <a:xfrm>
            <a:off x="974407" y="857250"/>
            <a:ext cx="520065" cy="500062"/>
          </a:xfrm>
          <a:custGeom>
            <a:avLst/>
            <a:gdLst/>
            <a:ahLst/>
            <a:cxnLst/>
            <a:rect l="l" t="t" r="r" b="b"/>
            <a:pathLst>
              <a:path w="520065" h="500062">
                <a:moveTo>
                  <a:pt x="0" y="0"/>
                </a:moveTo>
                <a:lnTo>
                  <a:pt x="140018" y="0"/>
                </a:lnTo>
                <a:lnTo>
                  <a:pt x="260033" y="340042"/>
                </a:lnTo>
                <a:lnTo>
                  <a:pt x="380048" y="0"/>
                </a:lnTo>
                <a:lnTo>
                  <a:pt x="520065" y="0"/>
                </a:lnTo>
                <a:lnTo>
                  <a:pt x="300038" y="500062"/>
                </a:lnTo>
                <a:lnTo>
                  <a:pt x="220028" y="500062"/>
                </a:lnTo>
                <a:close/>
              </a:path>
            </a:pathLst>
          </a:cu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868680"/>
            <a:ext cx="5486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Inter"/>
              </a:rPr>
              <a:t>VICIOUS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68880"/>
            <a:ext cx="10058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Talent wins games.</a:t>
            </a:r>
          </a:p>
          <a:p>
            <a:pPr algn="l">
              <a:lnSpc>
                <a:spcPct val="100000"/>
              </a:lnSpc>
            </a:pPr>
            <a:r>
              <a:rPr sz="6400" b="1">
                <a:solidFill>
                  <a:srgbClr val="FFFFFF"/>
                </a:solidFill>
                <a:latin typeface="Inter"/>
              </a:rPr>
              <a:t>Data wins seasons.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1148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9CA3AF"/>
                </a:solidFill>
                <a:latin typeface="Inter"/>
              </a:rPr>
              <a:t>VICIOUS  ·  Run your roster like a pro.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4937760"/>
            <a:ext cx="640080" cy="45720"/>
          </a:xfrm>
          <a:prstGeom prst="rect">
            <a:avLst/>
          </a:prstGeom>
          <a:solidFill>
            <a:srgbClr val="E11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50749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11D2E"/>
                </a:solidFill>
                <a:latin typeface="Inter"/>
              </a:rPr>
              <a:t>hello@yourdomain.com   ·   yourdomain.com   ·   @yourhandle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