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32720" y="640080"/>
            <a:ext cx="1463040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2720" y="786384"/>
            <a:ext cx="822960" cy="36576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32720" y="877824"/>
            <a:ext cx="365760" cy="36576"/>
          </a:xfrm>
          <a:prstGeom prst="rect">
            <a:avLst/>
          </a:prstGeom>
          <a:solidFill>
            <a:srgbClr val="6A7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26771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ROSTER INTELLIGENCE  ·  SINGLE ROSTER EDITION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FFFFFF"/>
                </a:solidFill>
                <a:latin typeface="Inter"/>
              </a:rPr>
              <a:t>Stop guessing.</a:t>
            </a:r>
          </a:p>
          <a:p>
            <a:pPr algn="l">
              <a:lnSpc>
                <a:spcPct val="100000"/>
              </a:lnSpc>
            </a:pPr>
            <a:r>
              <a:rPr sz="5800" b="1">
                <a:solidFill>
                  <a:srgbClr val="FFFFFF"/>
                </a:solidFill>
                <a:latin typeface="Inter"/>
              </a:rPr>
              <a:t>Start winning your matches.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9AA6C0"/>
                </a:solidFill>
                <a:latin typeface="Inter"/>
              </a:rPr>
              <a:t>A professional-grade roster, stats and prep workspace —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9AA6C0"/>
                </a:solidFill>
                <a:latin typeface="Inter"/>
              </a:rPr>
              <a:t>built for the player who takes the game seriously.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669280"/>
            <a:ext cx="3291840" cy="411480"/>
          </a:xfrm>
          <a:prstGeom prst="roundRect">
            <a:avLst/>
          </a:prstGeom>
          <a:noFill/>
          <a:ln w="12700">
            <a:solidFill>
              <a:srgbClr val="1FA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687568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INDIVIDUALS  ·  SINGLE ROSTER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A7895"/>
                </a:solidFill>
                <a:latin typeface="Inter"/>
              </a:rPr>
              <a:t>Confidential sales material   ·   Built for esports orgs, coaches &amp; competitive players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01  ·  WHAT THIS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Your personal command center for one competitive roster.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6C0"/>
                </a:solidFill>
                <a:latin typeface="Inter"/>
              </a:rPr>
              <a:t>Everything you need to track performance, prepare for opponents and improve — in one place.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3657600" cy="329184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One Roster, Fully Owned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Your players, your matches, your stats, your scouting notes. Private to you, organized like a pro team would.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743200"/>
            <a:ext cx="3657600" cy="329184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0916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657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Real Match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06908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Log results, drafts, maps, heroes/agents and KDA — and watch trends emerge automatically as you play.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743200"/>
            <a:ext cx="3383280" cy="329184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6576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Pre-Match Prep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069080"/>
            <a:ext cx="2834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Scout opponents, study past meetups, and walk into your next match knowing exactly what works.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02  ·  WHY ONE ROSTER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Most players lose matches before they start.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6C0"/>
                </a:solidFill>
                <a:latin typeface="Inter"/>
              </a:rPr>
              <a:t>Memory, group chats and screenshots don't scale past a few weeks of competitive play.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A8E0"/>
                </a:solidFill>
                <a:latin typeface="Inter"/>
              </a:rPr>
              <a:t>▸  </a:t>
            </a:r>
            <a:r>
              <a:rPr sz="1500">
                <a:solidFill>
                  <a:srgbClr val="E7ECF5"/>
                </a:solidFill>
                <a:latin typeface="Inter"/>
              </a:rPr>
              <a:t>You forget which comps actually work for your line-up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1">
                <a:solidFill>
                  <a:srgbClr val="1FA8E0"/>
                </a:solidFill>
                <a:latin typeface="Inter"/>
              </a:rPr>
              <a:t>▸  </a:t>
            </a:r>
            <a:r>
              <a:rPr sz="1500">
                <a:solidFill>
                  <a:srgbClr val="E7ECF5"/>
                </a:solidFill>
                <a:latin typeface="Inter"/>
              </a:rPr>
              <a:t>You can't see your real win-rate by map, mode or opponent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1">
                <a:solidFill>
                  <a:srgbClr val="1FA8E0"/>
                </a:solidFill>
                <a:latin typeface="Inter"/>
              </a:rPr>
              <a:t>▸  </a:t>
            </a:r>
            <a:r>
              <a:rPr sz="1500">
                <a:solidFill>
                  <a:srgbClr val="E7ECF5"/>
                </a:solidFill>
                <a:latin typeface="Inter"/>
              </a:rPr>
              <a:t>Scouting an opponent means scrolling through Discord history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1">
                <a:solidFill>
                  <a:srgbClr val="1FA8E0"/>
                </a:solidFill>
                <a:latin typeface="Inter"/>
              </a:rPr>
              <a:t>▸  </a:t>
            </a:r>
            <a:r>
              <a:rPr sz="1500">
                <a:solidFill>
                  <a:srgbClr val="E7ECF5"/>
                </a:solidFill>
                <a:latin typeface="Inter"/>
              </a:rPr>
              <a:t>Improvement feels invisible — there's nothing to point 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43200"/>
            <a:ext cx="246888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2743200"/>
            <a:ext cx="73152" cy="155448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01752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73%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8862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of amateur players can't recall their last 5 drafts accurately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2743200"/>
            <a:ext cx="246888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35440" y="2743200"/>
            <a:ext cx="73152" cy="155448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301752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2.4×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8862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improvement rate when prep is structured vs. ad-hoc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4434840"/>
            <a:ext cx="512064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4434840"/>
            <a:ext cx="73152" cy="15544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470916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1 roster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577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is all it takes to start playing like an organized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03  ·  WHAT YOU 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One roster. Eight workspaces. Zero spreadsheets.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2697480" cy="169164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Roster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Players, roles, contact, status.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743200"/>
            <a:ext cx="2697480" cy="169164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EVT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6576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06908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Tournaments, scrims, VOD reviews.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743200"/>
            <a:ext cx="2697480" cy="169164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MTH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576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Matches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06908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Full results with maps and modes.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743200"/>
            <a:ext cx="2697480" cy="169164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2688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OPP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6576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Opponents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06908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Linked head-to-head history.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572000"/>
            <a:ext cx="2697480" cy="169164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48463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8463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HRO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4864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Heroes /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89788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Pick-rates, win-rates, comps.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4572000"/>
            <a:ext cx="2697480" cy="169164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57600" y="48463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48463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4864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Maps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89788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Side, mode and map performance.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572000"/>
            <a:ext cx="2697480" cy="169164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92240" y="48463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8463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DFT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4864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Draft / B&amp;P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89788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What you ban, pick and beat.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60" y="4572000"/>
            <a:ext cx="2697480" cy="169164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326880" y="48463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48463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STA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54864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Stats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589788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Personal &amp; team trends over time.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04  ·  FEATURES INCLUDED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Everything below ships with a single roster — no add-ons, no upsells.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3657600" cy="1097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54864" cy="109728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Roster &amp; 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Add players, set roles, track availability for every event.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743200"/>
            <a:ext cx="3657600" cy="1097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743200"/>
            <a:ext cx="54864" cy="109728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8803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Match logging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4612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Capture maps, modes, score, result and notes in under 60 seconds.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743200"/>
            <a:ext cx="3657600" cy="1097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743200"/>
            <a:ext cx="54864" cy="109728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8803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Opponent profiles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24612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Link every match to an opponent and see your true H2H history.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3657600" cy="1097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77639"/>
            <a:ext cx="54864" cy="109728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14799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Hero / agent stats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80559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Pick-rate, win-rate and synergy across your last N matches.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977639"/>
            <a:ext cx="3657600" cy="1097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977639"/>
            <a:ext cx="54864" cy="109728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114799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Map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480559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Side win-rate, attack vs. defense, mode-by-mode performance.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977639"/>
            <a:ext cx="3657600" cy="1097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977639"/>
            <a:ext cx="54864" cy="109728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4114799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Draft / B&amp;P insights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480559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What gets banned, what wins, what loses — over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212080"/>
            <a:ext cx="3657600" cy="1097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212080"/>
            <a:ext cx="54864" cy="109728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349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Player comparisons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7150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Stack two players head-to-head on any metric.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5212080"/>
            <a:ext cx="3657600" cy="1097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43400" y="5212080"/>
            <a:ext cx="54864" cy="109728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5349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Filters &amp; timeframes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7150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Slice by event, opponent, patch, map or window.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5212080"/>
            <a:ext cx="3657600" cy="1097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5212080"/>
            <a:ext cx="54864" cy="109728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5349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Dark / light themes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57150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Built for late-night prep sessions and bright cafés alike.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05  ·  PERFORMANCE &amp;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From 'we'll figure it out' to 'we've prepared for this'.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6858000" cy="3383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Match win-rate by preparation depth (illustrative)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93592"/>
            <a:ext cx="192024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No prep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3735324"/>
            <a:ext cx="3657600" cy="164592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3735324"/>
            <a:ext cx="1536192" cy="164592"/>
          </a:xfrm>
          <a:prstGeom prst="rect">
            <a:avLst/>
          </a:prstGeom>
          <a:solidFill>
            <a:srgbClr val="EF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593592"/>
            <a:ext cx="54864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7ECF5"/>
                </a:solidFill>
                <a:latin typeface="Inter"/>
              </a:rPr>
              <a:t>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87952"/>
            <a:ext cx="192024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Quick scout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329684"/>
            <a:ext cx="3657600" cy="164592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40" y="4329684"/>
            <a:ext cx="1975104" cy="164592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187952"/>
            <a:ext cx="54864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7ECF5"/>
                </a:solidFill>
                <a:latin typeface="Inter"/>
              </a:rPr>
              <a:t>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82312"/>
            <a:ext cx="192024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Structured prep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4924044"/>
            <a:ext cx="3657600" cy="164592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4924044"/>
            <a:ext cx="2450592" cy="164592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782312"/>
            <a:ext cx="54864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7ECF5"/>
                </a:solidFill>
                <a:latin typeface="Inter"/>
              </a:rPr>
              <a:t>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76672"/>
            <a:ext cx="192024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Platform prep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5518404"/>
            <a:ext cx="3657600" cy="164592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34640" y="5518404"/>
            <a:ext cx="2852928" cy="16459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5376672"/>
            <a:ext cx="54864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7ECF5"/>
                </a:solidFill>
                <a:latin typeface="Inter"/>
              </a:rPr>
              <a:t>78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743200"/>
            <a:ext cx="4114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FA8E0"/>
                </a:solidFill>
                <a:latin typeface="Inter"/>
              </a:rPr>
              <a:t>▸  </a:t>
            </a:r>
            <a:r>
              <a:rPr sz="1200">
                <a:solidFill>
                  <a:srgbClr val="E7ECF5"/>
                </a:solidFill>
                <a:latin typeface="Inter"/>
              </a:rPr>
              <a:t>Walk into matches with a plan, not a vibe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200" b="1">
                <a:solidFill>
                  <a:srgbClr val="1FA8E0"/>
                </a:solidFill>
                <a:latin typeface="Inter"/>
              </a:rPr>
              <a:t>▸  </a:t>
            </a:r>
            <a:r>
              <a:rPr sz="1200">
                <a:solidFill>
                  <a:srgbClr val="E7ECF5"/>
                </a:solidFill>
                <a:latin typeface="Inter"/>
              </a:rPr>
              <a:t>Identify your weakest map and fix it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200" b="1">
                <a:solidFill>
                  <a:srgbClr val="1FA8E0"/>
                </a:solidFill>
                <a:latin typeface="Inter"/>
              </a:rPr>
              <a:t>▸  </a:t>
            </a:r>
            <a:r>
              <a:rPr sz="1200">
                <a:solidFill>
                  <a:srgbClr val="E7ECF5"/>
                </a:solidFill>
                <a:latin typeface="Inter"/>
              </a:rPr>
              <a:t>Spot the comps your opponent loses to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200" b="1">
                <a:solidFill>
                  <a:srgbClr val="1FA8E0"/>
                </a:solidFill>
                <a:latin typeface="Inter"/>
              </a:rPr>
              <a:t>▸  </a:t>
            </a:r>
            <a:r>
              <a:rPr sz="1200">
                <a:solidFill>
                  <a:srgbClr val="E7ECF5"/>
                </a:solidFill>
                <a:latin typeface="Inter"/>
              </a:rPr>
              <a:t>Catch your own bad habits before they cost you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200" b="1">
                <a:solidFill>
                  <a:srgbClr val="1FA8E0"/>
                </a:solidFill>
                <a:latin typeface="Inter"/>
              </a:rPr>
              <a:t>▸  </a:t>
            </a:r>
            <a:r>
              <a:rPr sz="1200">
                <a:solidFill>
                  <a:srgbClr val="E7ECF5"/>
                </a:solidFill>
                <a:latin typeface="Inter"/>
              </a:rPr>
              <a:t>Build a season narrative you can actually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06  ·  HOW IT LOOKS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Built like a pro tool. Designed to be readable in a war 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697480"/>
            <a:ext cx="7315200" cy="365760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7315200" cy="292608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2788920"/>
            <a:ext cx="118872" cy="118872"/>
          </a:xfrm>
          <a:prstGeom prst="ellipse">
            <a:avLst/>
          </a:prstGeom>
          <a:solidFill>
            <a:srgbClr val="EF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2788920"/>
            <a:ext cx="118872" cy="118872"/>
          </a:xfrm>
          <a:prstGeom prst="ellipse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6696" y="2788920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" y="3044952"/>
            <a:ext cx="7205472" cy="3255264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ashboard_users_1771832454665_7205472x3255264_17718324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3044952"/>
            <a:ext cx="7205472" cy="32552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A7895"/>
                </a:solidFill>
                <a:latin typeface="Inter"/>
              </a:rPr>
              <a:t>Dashboard  ·  live product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74320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FA8E0"/>
                </a:solidFill>
                <a:latin typeface="Inter"/>
              </a:rPr>
              <a:t>▸  </a:t>
            </a:r>
            <a:r>
              <a:rPr sz="1200">
                <a:solidFill>
                  <a:srgbClr val="E7ECF5"/>
                </a:solidFill>
                <a:latin typeface="Inter"/>
              </a:rPr>
              <a:t>Dark, premium UI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1">
                <a:solidFill>
                  <a:srgbClr val="1FA8E0"/>
                </a:solidFill>
                <a:latin typeface="Inter"/>
              </a:rPr>
              <a:t>▸  </a:t>
            </a:r>
            <a:r>
              <a:rPr sz="1200">
                <a:solidFill>
                  <a:srgbClr val="E7ECF5"/>
                </a:solidFill>
                <a:latin typeface="Inter"/>
              </a:rPr>
              <a:t>Information-dense without being noisy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1">
                <a:solidFill>
                  <a:srgbClr val="1FA8E0"/>
                </a:solidFill>
                <a:latin typeface="Inter"/>
              </a:rPr>
              <a:t>▸  </a:t>
            </a:r>
            <a:r>
              <a:rPr sz="1200">
                <a:solidFill>
                  <a:srgbClr val="E7ECF5"/>
                </a:solidFill>
                <a:latin typeface="Inter"/>
              </a:rPr>
              <a:t>Keyboard-friendly entry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1">
                <a:solidFill>
                  <a:srgbClr val="1FA8E0"/>
                </a:solidFill>
                <a:latin typeface="Inter"/>
              </a:rPr>
              <a:t>▸  </a:t>
            </a:r>
            <a:r>
              <a:rPr sz="1200">
                <a:solidFill>
                  <a:srgbClr val="E7ECF5"/>
                </a:solidFill>
                <a:latin typeface="Inter"/>
              </a:rPr>
              <a:t>Fast filters across every view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200" b="1">
                <a:solidFill>
                  <a:srgbClr val="1FA8E0"/>
                </a:solidFill>
                <a:latin typeface="Inter"/>
              </a:rPr>
              <a:t>▸  </a:t>
            </a:r>
            <a:r>
              <a:rPr sz="1200">
                <a:solidFill>
                  <a:srgbClr val="E7ECF5"/>
                </a:solidFill>
                <a:latin typeface="Inter"/>
              </a:rPr>
              <a:t>Mobile-friendly for live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07  · 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Four steps from sign-up to your first informed match.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2560320" cy="320040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2560320" cy="73152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FA8E0"/>
                </a:solidFill>
                <a:latin typeface="Inter"/>
              </a:rPr>
              <a:t>STEP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Create roster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2103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Add your players, set roles and your competitive game.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7248" y="4320540"/>
            <a:ext cx="237744" cy="4572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743200"/>
            <a:ext cx="2560320" cy="320040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743200"/>
            <a:ext cx="2560320" cy="73152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29718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FA8E0"/>
                </a:solidFill>
                <a:latin typeface="Inter"/>
              </a:rPr>
              <a:t>STEP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337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Log matches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840480"/>
            <a:ext cx="2103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Drop in results, maps, drafts and notes as you play.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61888" y="4320540"/>
            <a:ext cx="237744" cy="4572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743200"/>
            <a:ext cx="2560320" cy="320040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743200"/>
            <a:ext cx="2560320" cy="73152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9718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FA8E0"/>
                </a:solidFill>
                <a:latin typeface="Inter"/>
              </a:rPr>
              <a:t>STEP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337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Review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840480"/>
            <a:ext cx="2103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Trends, comps and matchup data appear automatically.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96528" y="4320540"/>
            <a:ext cx="237744" cy="4572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2743200"/>
            <a:ext cx="2560320" cy="320040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52560" y="2743200"/>
            <a:ext cx="2560320" cy="73152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29718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FA8E0"/>
                </a:solidFill>
                <a:latin typeface="Inter"/>
              </a:rPr>
              <a:t>STEP 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337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Prep &amp; repeat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840480"/>
            <a:ext cx="2103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Use the data to plan your next match and tighten the loop.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08  ·  EXAMPLE 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A solo competitive player preparing for an online cup.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6C0"/>
                </a:solidFill>
                <a:latin typeface="Inter"/>
              </a:rPr>
              <a:t>Two weeks of prep. One roster. A measurable outcome.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1371600" cy="548640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A8E0"/>
                </a:solidFill>
                <a:latin typeface="Inter"/>
              </a:rPr>
              <a:t>Day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2743200"/>
            <a:ext cx="9601200" cy="54864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27432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7ECF5"/>
                </a:solidFill>
                <a:latin typeface="Inter"/>
              </a:rPr>
              <a:t>Sets up roster, imports last 10 scrim results.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1371600" cy="548640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A8E0"/>
                </a:solidFill>
                <a:latin typeface="Inter"/>
              </a:rPr>
              <a:t>Day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3429000"/>
            <a:ext cx="9601200" cy="54864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34290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7ECF5"/>
                </a:solidFill>
                <a:latin typeface="Inter"/>
              </a:rPr>
              <a:t>Identifies a 31% win-rate on Mode X — flags it for practice.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1371600" cy="548640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A8E0"/>
                </a:solidFill>
                <a:latin typeface="Inter"/>
              </a:rPr>
              <a:t>Day 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4114800"/>
            <a:ext cx="9601200" cy="54864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41148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7ECF5"/>
                </a:solidFill>
                <a:latin typeface="Inter"/>
              </a:rPr>
              <a:t>Scouts cup opponents — spots a recurring ban pattern.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00600"/>
            <a:ext cx="1371600" cy="548640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A8E0"/>
                </a:solidFill>
                <a:latin typeface="Inter"/>
              </a:rPr>
              <a:t>Day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4800600"/>
            <a:ext cx="9601200" cy="54864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48006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7ECF5"/>
                </a:solidFill>
                <a:latin typeface="Inter"/>
              </a:rPr>
              <a:t>Drafts three counter-comps in the planner.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86400"/>
            <a:ext cx="1371600" cy="548640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486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A8E0"/>
                </a:solidFill>
                <a:latin typeface="Inter"/>
              </a:rPr>
              <a:t>Cup day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5486400"/>
            <a:ext cx="9601200" cy="54864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7ECF5"/>
                </a:solidFill>
                <a:latin typeface="Inter"/>
              </a:rPr>
              <a:t>Wins 4 / 5 best-of-threes. 2 of them on Mode X.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09  · 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One price per roster. Pick the plan that matches your game.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3657600" cy="365760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7ECF5"/>
                </a:solidFill>
                <a:latin typeface="Inter"/>
              </a:rPr>
              <a:t>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AA6C0"/>
                </a:solidFill>
                <a:latin typeface="Inter"/>
              </a:rPr>
              <a:t>Free Fire, Fortnite, Apex, PUBG, EAFC, Rocket League, eFootball, Deadlock, TrackMania, fighting games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7ECF5"/>
                </a:solidFill>
                <a:latin typeface="Inter"/>
              </a:rPr>
              <a:t>$8 USD / month per roster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2628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3 months: $18  (save 25%)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6 months: $31  (save 35%)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All features included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Cancel anytime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743200"/>
            <a:ext cx="3657600" cy="3657600"/>
          </a:xfrm>
          <a:prstGeom prst="rect">
            <a:avLst/>
          </a:prstGeom>
          <a:solidFill>
            <a:srgbClr val="1E2C4A"/>
          </a:solidFill>
          <a:ln w="19050">
            <a:solidFill>
              <a:srgbClr val="1FA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2542032"/>
            <a:ext cx="1280160" cy="274320"/>
          </a:xfrm>
          <a:prstGeom prst="round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5420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FFFFFF"/>
                </a:solidFill>
                <a:latin typeface="Inter"/>
              </a:rPr>
              <a:t>MOST POPULAR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8803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7ECF5"/>
                </a:solidFill>
                <a:latin typeface="Inter"/>
              </a:rPr>
              <a:t>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2918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AA6C0"/>
                </a:solidFill>
                <a:latin typeface="Inter"/>
              </a:rPr>
              <a:t>Dota 2, CS:GO, LoL, Mobile Legends, Honor of Kings, TFT, CrossFire, CoD Mobile, The Finals, Brawl Stars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7763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A8E0"/>
                </a:solidFill>
                <a:latin typeface="Inter"/>
              </a:rPr>
              <a:t>$20 USD / month per roster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52628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3 months: $45  (save 25%)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6 months: $78  (save 35%)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All features included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Cancel anytime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743200"/>
            <a:ext cx="3657600" cy="365760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8803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7ECF5"/>
                </a:solidFill>
                <a:latin typeface="Inter"/>
              </a:rPr>
              <a:t>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918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AA6C0"/>
                </a:solidFill>
                <a:latin typeface="Inter"/>
              </a:rPr>
              <a:t>Valorant, Overwatch, Rainbow Six Siege, Call of Duty, Marvel Rivals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97763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7ECF5"/>
                </a:solidFill>
                <a:latin typeface="Inter"/>
              </a:rPr>
              <a:t>$40 USD / month per roster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52628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3 months: $90  (save 25%)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6 months: $156 (save 35%)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All features included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Cancel anytime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Website-only access (no roster analytics): $40 USD / month flat.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10  ·  MANUAL VS.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What changes when you stop using spreadsheets and notes apps.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3688080" cy="563880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7ECF5"/>
                </a:solidFill>
                <a:latin typeface="Inter"/>
              </a:rPr>
              <a:t>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6720" y="2743200"/>
            <a:ext cx="3688080" cy="563880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274320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7ECF5"/>
                </a:solidFill>
                <a:latin typeface="Inter"/>
              </a:rPr>
              <a:t>Spreadsheets / 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4800" y="2743200"/>
            <a:ext cx="3688080" cy="563880"/>
          </a:xfrm>
          <a:prstGeom prst="rect">
            <a:avLst/>
          </a:prstGeom>
          <a:solidFill>
            <a:srgbClr val="1FA8E0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960" y="274320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Single Roster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07080"/>
            <a:ext cx="3688080" cy="5638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0708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7ECF5"/>
                </a:solidFill>
                <a:latin typeface="Inter"/>
              </a:rPr>
              <a:t>Match history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36720" y="3307080"/>
            <a:ext cx="3688080" cy="5638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3880" y="330708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Manual entry, often forgotten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4800" y="3307080"/>
            <a:ext cx="3688080" cy="563880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1960" y="330708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Inter"/>
              </a:rPr>
              <a:t>Logged in under a minute, searchable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70960"/>
            <a:ext cx="3688080" cy="563880"/>
          </a:xfrm>
          <a:prstGeom prst="rect">
            <a:avLst/>
          </a:prstGeom>
          <a:solidFill>
            <a:srgbClr val="0F172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87096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7ECF5"/>
                </a:solidFill>
                <a:latin typeface="Inter"/>
              </a:rPr>
              <a:t>Opponent scouting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36720" y="3870960"/>
            <a:ext cx="3688080" cy="563880"/>
          </a:xfrm>
          <a:prstGeom prst="rect">
            <a:avLst/>
          </a:prstGeom>
          <a:solidFill>
            <a:srgbClr val="0F172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3880" y="387096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Scrolling old chats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4800" y="3870960"/>
            <a:ext cx="3688080" cy="563880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1960" y="387096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Inter"/>
              </a:rPr>
              <a:t>Linked H2H profiles auto-built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34840"/>
            <a:ext cx="3688080" cy="5638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3484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7ECF5"/>
                </a:solidFill>
                <a:latin typeface="Inter"/>
              </a:rPr>
              <a:t>Hero / map insights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36720" y="4434840"/>
            <a:ext cx="3688080" cy="5638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3880" y="443484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Calculated by hand (rarely)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24800" y="4434840"/>
            <a:ext cx="3688080" cy="563880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1960" y="443484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Inter"/>
              </a:rPr>
              <a:t>Win-rate, pick-rate ready instantly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998720"/>
            <a:ext cx="3688080" cy="563880"/>
          </a:xfrm>
          <a:prstGeom prst="rect">
            <a:avLst/>
          </a:prstGeom>
          <a:solidFill>
            <a:srgbClr val="0F172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99872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7ECF5"/>
                </a:solidFill>
                <a:latin typeface="Inter"/>
              </a:rPr>
              <a:t>Draft 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36720" y="4998720"/>
            <a:ext cx="3688080" cy="563880"/>
          </a:xfrm>
          <a:prstGeom prst="rect">
            <a:avLst/>
          </a:prstGeom>
          <a:solidFill>
            <a:srgbClr val="0F172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3880" y="499872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Effectively impossible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24800" y="4998720"/>
            <a:ext cx="3688080" cy="563880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61960" y="499872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Inter"/>
              </a:rPr>
              <a:t>Bans, picks and counters over 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562600"/>
            <a:ext cx="3688080" cy="5638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56260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7ECF5"/>
                </a:solidFill>
                <a:latin typeface="Inter"/>
              </a:rPr>
              <a:t>Sharing with coach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36720" y="5562600"/>
            <a:ext cx="3688080" cy="5638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3880" y="556260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Screenshots in Discord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24800" y="5562600"/>
            <a:ext cx="3688080" cy="563880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61960" y="556260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Inter"/>
              </a:rPr>
              <a:t>Clean read-only view (with add-on)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11  ·  FAQ &amp; OBJECTIONS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The honest answers to what most buyers ask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5486400" cy="1097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A8E0"/>
                </a:solidFill>
                <a:latin typeface="Inter"/>
              </a:rPr>
              <a:t>Is one roster really enough for me?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Yes — if you only play one game competitively with one line-up, one roster covers everything.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743200"/>
            <a:ext cx="5486400" cy="1097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8803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A8E0"/>
                </a:solidFill>
                <a:latin typeface="Inter"/>
              </a:rPr>
              <a:t>Do I need to be on a team?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24612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No. Many users are solo competitive players using the roster as their personal record.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5486400" cy="1097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14799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A8E0"/>
                </a:solidFill>
                <a:latin typeface="Inter"/>
              </a:rPr>
              <a:t>Will it work for my game?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80559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If your game has matches, maps/modes and characters/heroes, the templates already fit.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977639"/>
            <a:ext cx="5486400" cy="1097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114799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A8E0"/>
                </a:solidFill>
                <a:latin typeface="Inter"/>
              </a:rPr>
              <a:t>Can I export my data later?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480559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Yes. Your data stays yours; export is supported.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12080"/>
            <a:ext cx="5486400" cy="1097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492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A8E0"/>
                </a:solidFill>
                <a:latin typeface="Inter"/>
              </a:rPr>
              <a:t>What if I outgrow it?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You can upgrade to the Organizations plan and bring all your data with you.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212080"/>
            <a:ext cx="5486400" cy="1097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3492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A8E0"/>
                </a:solidFill>
                <a:latin typeface="Inter"/>
              </a:rPr>
              <a:t>How long until I see value?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7150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Most users get useful insights after logging 8–10 matches — usually within the first week.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12  ·  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Every match you play unprepared is data you'll never get 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85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A8E0"/>
                </a:solidFill>
                <a:latin typeface="Inter"/>
              </a:rPr>
              <a:t>▸  </a:t>
            </a:r>
            <a:r>
              <a:rPr sz="1500">
                <a:solidFill>
                  <a:srgbClr val="E7ECF5"/>
                </a:solidFill>
                <a:latin typeface="Inter"/>
              </a:rPr>
              <a:t>Your competition is already tracking — quietly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1">
                <a:solidFill>
                  <a:srgbClr val="1FA8E0"/>
                </a:solidFill>
                <a:latin typeface="Inter"/>
              </a:rPr>
              <a:t>▸  </a:t>
            </a:r>
            <a:r>
              <a:rPr sz="1500">
                <a:solidFill>
                  <a:srgbClr val="E7ECF5"/>
                </a:solidFill>
                <a:latin typeface="Inter"/>
              </a:rPr>
              <a:t>Patches change the meta faster than memory can keep up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1">
                <a:solidFill>
                  <a:srgbClr val="1FA8E0"/>
                </a:solidFill>
                <a:latin typeface="Inter"/>
              </a:rPr>
              <a:t>▸  </a:t>
            </a:r>
            <a:r>
              <a:rPr sz="1500">
                <a:solidFill>
                  <a:srgbClr val="E7ECF5"/>
                </a:solidFill>
                <a:latin typeface="Inter"/>
              </a:rPr>
              <a:t>Off-season is the cheapest time to build the habit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1">
                <a:solidFill>
                  <a:srgbClr val="1FA8E0"/>
                </a:solidFill>
                <a:latin typeface="Inter"/>
              </a:rPr>
              <a:t>▸  </a:t>
            </a:r>
            <a:r>
              <a:rPr sz="1500">
                <a:solidFill>
                  <a:srgbClr val="E7ECF5"/>
                </a:solidFill>
                <a:latin typeface="Inter"/>
              </a:rPr>
              <a:t>You don't need a team to play like 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2743200"/>
            <a:ext cx="36576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79" y="2743200"/>
            <a:ext cx="73152" cy="155448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9" y="30175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&lt; 1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9" y="38862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to log a match in the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4434840"/>
            <a:ext cx="36576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4434840"/>
            <a:ext cx="73152" cy="155448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47091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8–10 games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55778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until insights become actionable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13  ·  ZERO-RISK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We make it easy to try, easy to stay, easy to leave.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2697480" cy="320040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Cancel anytime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2148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No long-term contracts or hidden fees.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743200"/>
            <a:ext cx="2697480" cy="320040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6576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Your data is yours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069080"/>
            <a:ext cx="2148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Export anytime in standard formats.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743200"/>
            <a:ext cx="2697480" cy="320040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576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Migrate up later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069080"/>
            <a:ext cx="2148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Move to Organizations plan with no data loss.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743200"/>
            <a:ext cx="2697480" cy="320040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2688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6576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Live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069080"/>
            <a:ext cx="2148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Real humans answer real questions.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176272"/>
            <a:ext cx="256032" cy="36576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103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26D55"/>
                </a:solidFill>
                <a:latin typeface="Inter"/>
              </a:rPr>
              <a:t>TAKE THE 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Inter"/>
              </a:rPr>
              <a:t>Buy one roster.</a:t>
            </a:r>
          </a:p>
          <a:p>
            <a:pPr algn="l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Inter"/>
              </a:rPr>
              <a:t>Start playing like a team of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262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9AA6C0"/>
                </a:solidFill>
                <a:latin typeface="Inter"/>
              </a:rPr>
              <a:t>Sign up, set up your roster in under five minutes,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9AA6C0"/>
                </a:solidFill>
                <a:latin typeface="Inter"/>
              </a:rPr>
              <a:t>and log your first match tonight.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486400"/>
            <a:ext cx="3291840" cy="594360"/>
          </a:xfrm>
          <a:prstGeom prst="round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START FREE TRIAL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5486400"/>
            <a:ext cx="3291840" cy="594360"/>
          </a:xfrm>
          <a:prstGeom prst="roundRect">
            <a:avLst/>
          </a:prstGeom>
          <a:noFill/>
          <a:ln w="15875">
            <a:solidFill>
              <a:srgbClr val="1FA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548640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A8E0"/>
                </a:solidFill>
                <a:latin typeface="Inter"/>
              </a:rPr>
              <a:t>BOOK A 15-MIN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A7895"/>
                </a:solidFill>
                <a:latin typeface="Inter"/>
              </a:rPr>
              <a:t>Replace the buttons with your real URLs in Canva.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Talent wins games.</a:t>
            </a:r>
          </a:p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Data wins seasons.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9AA6C0"/>
                </a:solidFill>
                <a:latin typeface="Inter"/>
              </a:rPr>
              <a:t>Roster Intelligence  ·  Single Roster Edition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37760"/>
            <a:ext cx="640080" cy="4572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A8E0"/>
                </a:solidFill>
                <a:latin typeface="Inter"/>
              </a:rPr>
              <a:t>hello@yourdomain.com   ·   yourdomain.com   ·   @yourhandle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